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9" r:id="rId6"/>
    <p:sldId id="270" r:id="rId7"/>
    <p:sldId id="271" r:id="rId8"/>
    <p:sldId id="260" r:id="rId9"/>
    <p:sldId id="261" r:id="rId10"/>
    <p:sldId id="262" r:id="rId11"/>
    <p:sldId id="263" r:id="rId12"/>
    <p:sldId id="264" r:id="rId13"/>
    <p:sldId id="265" r:id="rId14"/>
    <p:sldId id="266" r:id="rId15"/>
    <p:sldId id="267" r:id="rId16"/>
    <p:sldId id="268" r:id="rId17"/>
  </p:sldIdLst>
  <p:sldSz cx="9144000" cy="5143500" type="screen16x9"/>
  <p:notesSz cx="5143500" cy="9144000"/>
  <p:embeddedFontLst>
    <p:embeddedFont>
      <p:font typeface="Cambria Math" panose="02040503050406030204" pitchFamily="18" charset="0"/>
      <p:regular r:id="rId19"/>
    </p:embeddedFont>
    <p:embeddedFont>
      <p:font typeface="Inter" panose="020B0604020202020204" charset="0"/>
      <p:regular r:id="rId20"/>
      <p:bold r:id="rId21"/>
      <p:italic r:id="rId22"/>
      <p:boldItalic r:id="rId23"/>
    </p:embeddedFont>
    <p:embeddedFont>
      <p:font typeface="Petrona"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DmBrdaxk7w7guso5Beeo4OBXV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EA7DDF-575E-4737-A5FE-D030BCAD1714}">
  <a:tblStyle styleId="{D1EA7DDF-575E-4737-A5FE-D030BCAD1714}"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
        <p:cNvGrpSpPr/>
        <p:nvPr/>
      </p:nvGrpSpPr>
      <p:grpSpPr>
        <a:xfrm>
          <a:off x="0" y="0"/>
          <a:ext cx="0" cy="0"/>
          <a:chOff x="0" y="0"/>
          <a:chExt cx="0" cy="0"/>
        </a:xfrm>
      </p:grpSpPr>
      <p:sp>
        <p:nvSpPr>
          <p:cNvPr id="11" name="Google Shape;1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 name="Google Shape;1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3" name="Google Shape;13;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 name="Google Shape;2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22" name="Google Shape;22;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 name="Google Shape;31;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32" name="Google Shape;32;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 name="Google Shape;50;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51" name="Google Shape;51;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6d2771d9a_0_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g3f6d2771d9a_0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91" name="Google Shape;91;g3f6d2771d9a_0_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03" name="Google Shape;103;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6d2771d9a_0_4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g3f6d2771d9a_0_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15" name="Google Shape;115;g3f6d2771d9a_0_4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22" name="Google Shape;122;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31" name="Google Shape;131;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 name="Google Shape;14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49" name="Google Shape;14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4: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4:notes"/>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61" name="Google Shape;161;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 name="Google Shape;182;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83" name="Google Shape;183;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spTree>
      <p:nvGrpSpPr>
        <p:cNvPr id="1" name="Shape 6"/>
        <p:cNvGrpSpPr/>
        <p:nvPr/>
      </p:nvGrpSpPr>
      <p:grpSpPr>
        <a:xfrm>
          <a:off x="0" y="0"/>
          <a:ext cx="0" cy="0"/>
          <a:chOff x="0" y="0"/>
          <a:chExt cx="0" cy="0"/>
        </a:xfrm>
      </p:grpSpPr>
      <p:sp>
        <p:nvSpPr>
          <p:cNvPr id="7" name="Google Shape;7;p12"/>
          <p:cNvSpPr/>
          <p:nvPr/>
        </p:nvSpPr>
        <p:spPr>
          <a:xfrm>
            <a:off x="0" y="0"/>
            <a:ext cx="9144000" cy="5143500"/>
          </a:xfrm>
          <a:prstGeom prst="rect">
            <a:avLst/>
          </a:prstGeom>
          <a:solidFill>
            <a:srgbClr val="FAF2E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12"/>
          <p:cNvSpPr/>
          <p:nvPr/>
        </p:nvSpPr>
        <p:spPr>
          <a:xfrm>
            <a:off x="0" y="0"/>
            <a:ext cx="9144000" cy="5143500"/>
          </a:xfrm>
          <a:prstGeom prst="rect">
            <a:avLst/>
          </a:prstGeom>
          <a:solidFill>
            <a:srgbClr val="FDFAF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
        <p:cNvGrpSpPr/>
        <p:nvPr/>
      </p:nvGrpSpPr>
      <p:grpSpPr>
        <a:xfrm>
          <a:off x="0" y="0"/>
          <a:ext cx="0" cy="0"/>
          <a:chOff x="0" y="0"/>
          <a:chExt cx="0" cy="0"/>
        </a:xfrm>
      </p:grpSpPr>
      <p:pic>
        <p:nvPicPr>
          <p:cNvPr id="15" name="Google Shape;15;p1" descr="preencoded.png"/>
          <p:cNvPicPr preferRelativeResize="0"/>
          <p:nvPr/>
        </p:nvPicPr>
        <p:blipFill rotWithShape="1">
          <a:blip r:embed="rId3">
            <a:alphaModFix/>
          </a:blip>
          <a:srcRect/>
          <a:stretch/>
        </p:blipFill>
        <p:spPr>
          <a:xfrm>
            <a:off x="5715000" y="0"/>
            <a:ext cx="3429001" cy="5143501"/>
          </a:xfrm>
          <a:prstGeom prst="rect">
            <a:avLst/>
          </a:prstGeom>
          <a:noFill/>
          <a:ln>
            <a:noFill/>
          </a:ln>
        </p:spPr>
      </p:pic>
      <p:sp>
        <p:nvSpPr>
          <p:cNvPr id="16" name="Google Shape;16;p1"/>
          <p:cNvSpPr/>
          <p:nvPr/>
        </p:nvSpPr>
        <p:spPr>
          <a:xfrm>
            <a:off x="208975" y="1343400"/>
            <a:ext cx="8218200" cy="1389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3050"/>
              <a:buFont typeface="Petrona"/>
              <a:buNone/>
            </a:pPr>
            <a:r>
              <a:rPr lang="en-US" sz="2050" b="1">
                <a:solidFill>
                  <a:srgbClr val="F95F88"/>
                </a:solidFill>
                <a:latin typeface="Petrona"/>
                <a:ea typeface="Petrona"/>
                <a:cs typeface="Petrona"/>
                <a:sym typeface="Petrona"/>
              </a:rPr>
              <a:t>DeepTrace: Orchestrating Long-Context OCR</a:t>
            </a:r>
            <a:endParaRPr sz="2050" b="1">
              <a:solidFill>
                <a:srgbClr val="F95F88"/>
              </a:solidFill>
              <a:latin typeface="Petrona"/>
              <a:ea typeface="Petrona"/>
              <a:cs typeface="Petrona"/>
              <a:sym typeface="Petrona"/>
            </a:endParaRPr>
          </a:p>
          <a:p>
            <a:pPr marL="0" lvl="0" indent="0" algn="l" rtl="0">
              <a:lnSpc>
                <a:spcPct val="104000"/>
              </a:lnSpc>
              <a:spcBef>
                <a:spcPts val="0"/>
              </a:spcBef>
              <a:spcAft>
                <a:spcPts val="0"/>
              </a:spcAft>
              <a:buClr>
                <a:schemeClr val="dk1"/>
              </a:buClr>
              <a:buSzPts val="1100"/>
              <a:buFont typeface="Arial"/>
              <a:buNone/>
            </a:pPr>
            <a:r>
              <a:rPr lang="en-US" sz="2050" b="1">
                <a:solidFill>
                  <a:srgbClr val="F95F88"/>
                </a:solidFill>
                <a:latin typeface="Petrona"/>
                <a:ea typeface="Petrona"/>
                <a:cs typeface="Petrona"/>
                <a:sym typeface="Petrona"/>
              </a:rPr>
              <a:t>                                              and</a:t>
            </a:r>
            <a:endParaRPr sz="2050" b="1">
              <a:solidFill>
                <a:srgbClr val="F95F88"/>
              </a:solidFill>
              <a:latin typeface="Petrona"/>
              <a:ea typeface="Petrona"/>
              <a:cs typeface="Petrona"/>
              <a:sym typeface="Petrona"/>
            </a:endParaRPr>
          </a:p>
          <a:p>
            <a:pPr marL="0" lvl="0" indent="0" algn="l" rtl="0">
              <a:lnSpc>
                <a:spcPct val="104000"/>
              </a:lnSpc>
              <a:spcBef>
                <a:spcPts val="0"/>
              </a:spcBef>
              <a:spcAft>
                <a:spcPts val="0"/>
              </a:spcAft>
              <a:buClr>
                <a:schemeClr val="dk1"/>
              </a:buClr>
              <a:buSzPts val="1100"/>
              <a:buFont typeface="Arial"/>
              <a:buNone/>
            </a:pPr>
            <a:r>
              <a:rPr lang="en-US" sz="2050" b="1">
                <a:solidFill>
                  <a:srgbClr val="F95F88"/>
                </a:solidFill>
                <a:latin typeface="Petrona"/>
                <a:ea typeface="Petrona"/>
                <a:cs typeface="Petrona"/>
                <a:sym typeface="Petrona"/>
              </a:rPr>
              <a:t>Causal Explainability for Document Intelligence</a:t>
            </a:r>
            <a:endParaRPr sz="2050" b="1">
              <a:solidFill>
                <a:srgbClr val="F95F88"/>
              </a:solidFill>
              <a:latin typeface="Petrona"/>
              <a:ea typeface="Petrona"/>
              <a:cs typeface="Petrona"/>
              <a:sym typeface="Petrona"/>
            </a:endParaRPr>
          </a:p>
          <a:p>
            <a:pPr marL="0" marR="0" lvl="0" indent="0" algn="l" rtl="0">
              <a:lnSpc>
                <a:spcPct val="104000"/>
              </a:lnSpc>
              <a:spcBef>
                <a:spcPts val="0"/>
              </a:spcBef>
              <a:spcAft>
                <a:spcPts val="0"/>
              </a:spcAft>
              <a:buClr>
                <a:srgbClr val="F95F88"/>
              </a:buClr>
              <a:buSzPts val="3050"/>
              <a:buFont typeface="Petrona"/>
              <a:buNone/>
            </a:pPr>
            <a:endParaRPr sz="2050" b="1">
              <a:solidFill>
                <a:srgbClr val="F95F88"/>
              </a:solidFill>
              <a:latin typeface="Petrona"/>
              <a:ea typeface="Petrona"/>
              <a:cs typeface="Petrona"/>
              <a:sym typeface="Petrona"/>
            </a:endParaRPr>
          </a:p>
        </p:txBody>
      </p:sp>
      <p:sp>
        <p:nvSpPr>
          <p:cNvPr id="17" name="Google Shape;17;p1"/>
          <p:cNvSpPr/>
          <p:nvPr/>
        </p:nvSpPr>
        <p:spPr>
          <a:xfrm>
            <a:off x="496125" y="2501725"/>
            <a:ext cx="4943400" cy="2188500"/>
          </a:xfrm>
          <a:prstGeom prst="rect">
            <a:avLst/>
          </a:prstGeom>
          <a:noFill/>
          <a:ln>
            <a:noFill/>
          </a:ln>
        </p:spPr>
        <p:txBody>
          <a:bodyPr spcFirstLastPara="1" wrap="square" lIns="0" tIns="0" rIns="0" bIns="0" anchor="t" anchorCtr="0">
            <a:normAutofit/>
          </a:bodyPr>
          <a:lstStyle/>
          <a:p>
            <a:pPr marL="0" marR="0" lvl="0" indent="0" algn="l" rtl="0">
              <a:lnSpc>
                <a:spcPct val="133000"/>
              </a:lnSpc>
              <a:spcBef>
                <a:spcPts val="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0"/>
              </a:spcBef>
              <a:spcAft>
                <a:spcPts val="0"/>
              </a:spcAft>
              <a:buClr>
                <a:srgbClr val="272525"/>
              </a:buClr>
              <a:buSzPts val="1100"/>
              <a:buFont typeface="Inter"/>
              <a:buNone/>
            </a:pPr>
            <a:r>
              <a:rPr lang="en-US" sz="1100" b="1">
                <a:solidFill>
                  <a:srgbClr val="272525"/>
                </a:solidFill>
                <a:latin typeface="Inter"/>
                <a:ea typeface="Inter"/>
                <a:cs typeface="Inter"/>
                <a:sym typeface="Inter"/>
              </a:rPr>
              <a:t>Team Members</a:t>
            </a:r>
            <a:r>
              <a:rPr lang="en-US" sz="1100">
                <a:solidFill>
                  <a:srgbClr val="272525"/>
                </a:solidFill>
                <a:latin typeface="Inter"/>
                <a:ea typeface="Inter"/>
                <a:cs typeface="Inter"/>
                <a:sym typeface="Inter"/>
              </a:rPr>
              <a:t>: Sibani Tiwari 23XV1M6758(DS)</a:t>
            </a:r>
            <a:endParaRPr sz="1100">
              <a:solidFill>
                <a:srgbClr val="272525"/>
              </a:solidFill>
              <a:latin typeface="Inter"/>
              <a:ea typeface="Inter"/>
              <a:cs typeface="Inter"/>
              <a:sym typeface="Inter"/>
            </a:endParaRPr>
          </a:p>
          <a:p>
            <a:pPr marL="914400" marR="0" lvl="0" indent="0" algn="l" rtl="0">
              <a:lnSpc>
                <a:spcPct val="133000"/>
              </a:lnSpc>
              <a:spcBef>
                <a:spcPts val="0"/>
              </a:spcBef>
              <a:spcAft>
                <a:spcPts val="0"/>
              </a:spcAft>
              <a:buClr>
                <a:srgbClr val="272525"/>
              </a:buClr>
              <a:buSzPts val="1100"/>
              <a:buFont typeface="Inter"/>
              <a:buNone/>
            </a:pPr>
            <a:r>
              <a:rPr lang="en-US" sz="1100">
                <a:solidFill>
                  <a:srgbClr val="272525"/>
                </a:solidFill>
                <a:latin typeface="Inter"/>
                <a:ea typeface="Inter"/>
                <a:cs typeface="Inter"/>
                <a:sym typeface="Inter"/>
              </a:rPr>
              <a:t>     Harini Chopperla 23XV1M6752(DS)</a:t>
            </a:r>
            <a:endParaRPr sz="1100">
              <a:solidFill>
                <a:srgbClr val="272525"/>
              </a:solidFill>
              <a:latin typeface="Inter"/>
              <a:ea typeface="Inter"/>
              <a:cs typeface="Inter"/>
              <a:sym typeface="Inter"/>
            </a:endParaRPr>
          </a:p>
          <a:p>
            <a:pPr marL="914400" marR="0" lvl="0" indent="0" algn="l" rtl="0">
              <a:lnSpc>
                <a:spcPct val="133000"/>
              </a:lnSpc>
              <a:spcBef>
                <a:spcPts val="0"/>
              </a:spcBef>
              <a:spcAft>
                <a:spcPts val="0"/>
              </a:spcAft>
              <a:buClr>
                <a:srgbClr val="272525"/>
              </a:buClr>
              <a:buSzPts val="1100"/>
              <a:buFont typeface="Inter"/>
              <a:buNone/>
            </a:pPr>
            <a:r>
              <a:rPr lang="en-US" sz="1100">
                <a:solidFill>
                  <a:srgbClr val="272525"/>
                </a:solidFill>
                <a:latin typeface="Inter"/>
                <a:ea typeface="Inter"/>
                <a:cs typeface="Inter"/>
                <a:sym typeface="Inter"/>
              </a:rPr>
              <a:t>     Saika Brinda 23XV1M6730(DS)</a:t>
            </a:r>
            <a:endParaRPr sz="1100">
              <a:solidFill>
                <a:srgbClr val="272525"/>
              </a:solidFill>
              <a:latin typeface="Inter"/>
              <a:ea typeface="Inter"/>
              <a:cs typeface="Inter"/>
              <a:sym typeface="Inter"/>
            </a:endParaRPr>
          </a:p>
          <a:p>
            <a:pPr marL="914400" marR="0" lvl="0" indent="0" algn="l" rtl="0">
              <a:lnSpc>
                <a:spcPct val="133000"/>
              </a:lnSpc>
              <a:spcBef>
                <a:spcPts val="0"/>
              </a:spcBef>
              <a:spcAft>
                <a:spcPts val="0"/>
              </a:spcAft>
              <a:buClr>
                <a:srgbClr val="272525"/>
              </a:buClr>
              <a:buSzPts val="1100"/>
              <a:buFont typeface="Inter"/>
              <a:buNone/>
            </a:pPr>
            <a:r>
              <a:rPr lang="en-US" sz="1100">
                <a:solidFill>
                  <a:srgbClr val="272525"/>
                </a:solidFill>
                <a:latin typeface="Inter"/>
                <a:ea typeface="Inter"/>
                <a:cs typeface="Inter"/>
                <a:sym typeface="Inter"/>
              </a:rPr>
              <a:t>     Zoya Fatima 23XV1M0534(CSE)</a:t>
            </a:r>
            <a:br>
              <a:rPr lang="en-US" sz="1100">
                <a:solidFill>
                  <a:srgbClr val="272525"/>
                </a:solidFill>
                <a:latin typeface="Inter"/>
                <a:ea typeface="Inter"/>
                <a:cs typeface="Inter"/>
                <a:sym typeface="Inter"/>
              </a:rPr>
            </a:br>
            <a:endParaRPr sz="1100" b="0" i="0" u="none" strike="noStrike" cap="none">
              <a:solidFill>
                <a:schemeClr val="dk1"/>
              </a:solidFill>
              <a:latin typeface="Calibri"/>
              <a:ea typeface="Calibri"/>
              <a:cs typeface="Calibri"/>
              <a:sym typeface="Calibri"/>
            </a:endParaRPr>
          </a:p>
          <a:p>
            <a:pPr marL="0" marR="0" lvl="0" indent="0" algn="l" rtl="0">
              <a:lnSpc>
                <a:spcPct val="133000"/>
              </a:lnSpc>
              <a:spcBef>
                <a:spcPts val="1250"/>
              </a:spcBef>
              <a:spcAft>
                <a:spcPts val="0"/>
              </a:spcAft>
              <a:buClr>
                <a:srgbClr val="272525"/>
              </a:buClr>
              <a:buSzPts val="1100"/>
              <a:buFont typeface="Inter"/>
              <a:buNone/>
            </a:pPr>
            <a:r>
              <a:rPr lang="en-US" sz="1100" b="1" i="0" u="none" strike="noStrike" cap="none">
                <a:solidFill>
                  <a:srgbClr val="272525"/>
                </a:solidFill>
                <a:latin typeface="Inter"/>
                <a:ea typeface="Inter"/>
                <a:cs typeface="Inter"/>
                <a:sym typeface="Inter"/>
              </a:rPr>
              <a:t>Guide </a:t>
            </a:r>
            <a:r>
              <a:rPr lang="en-US" sz="1100" b="1">
                <a:solidFill>
                  <a:srgbClr val="272525"/>
                </a:solidFill>
                <a:latin typeface="Inter"/>
                <a:ea typeface="Inter"/>
                <a:cs typeface="Inter"/>
                <a:sym typeface="Inter"/>
              </a:rPr>
              <a:t>Name : </a:t>
            </a:r>
            <a:r>
              <a:rPr lang="en-US" sz="1100">
                <a:solidFill>
                  <a:srgbClr val="272525"/>
                </a:solidFill>
                <a:latin typeface="Inter"/>
                <a:ea typeface="Inter"/>
                <a:cs typeface="Inter"/>
                <a:sym typeface="Inter"/>
              </a:rPr>
              <a:t>Dr. Ramesh Babu Pittala                                                                          </a:t>
            </a: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a:p>
            <a:pPr marL="0" marR="0" lvl="0" indent="0" algn="l" rtl="0">
              <a:lnSpc>
                <a:spcPct val="133000"/>
              </a:lnSpc>
              <a:spcBef>
                <a:spcPts val="1250"/>
              </a:spcBef>
              <a:spcAft>
                <a:spcPts val="0"/>
              </a:spcAft>
              <a:buClr>
                <a:srgbClr val="272525"/>
              </a:buClr>
              <a:buSzPts val="1100"/>
              <a:buFont typeface="Inter"/>
              <a:buNone/>
            </a:pPr>
            <a:endParaRPr sz="1100">
              <a:solidFill>
                <a:srgbClr val="272525"/>
              </a:solidFill>
              <a:latin typeface="Inter"/>
              <a:ea typeface="Inter"/>
              <a:cs typeface="Inter"/>
              <a:sym typeface="Inter"/>
            </a:endParaRPr>
          </a:p>
        </p:txBody>
      </p:sp>
      <p:pic>
        <p:nvPicPr>
          <p:cNvPr id="18" name="Google Shape;18;p1"/>
          <p:cNvPicPr preferRelativeResize="0"/>
          <p:nvPr/>
        </p:nvPicPr>
        <p:blipFill rotWithShape="1">
          <a:blip r:embed="rId4">
            <a:alphaModFix/>
          </a:blip>
          <a:srcRect b="31381"/>
          <a:stretch/>
        </p:blipFill>
        <p:spPr>
          <a:xfrm>
            <a:off x="0" y="9"/>
            <a:ext cx="9143997" cy="14499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pic>
        <p:nvPicPr>
          <p:cNvPr id="24" name="Google Shape;24;p2"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25" name="Google Shape;25;p2"/>
          <p:cNvSpPr/>
          <p:nvPr/>
        </p:nvSpPr>
        <p:spPr>
          <a:xfrm>
            <a:off x="496119" y="403101"/>
            <a:ext cx="4722763" cy="47200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2950"/>
              <a:buFont typeface="Petrona"/>
              <a:buNone/>
            </a:pPr>
            <a:r>
              <a:rPr lang="en-US" sz="2950" b="1" i="0" u="none" strike="noStrike" cap="none">
                <a:solidFill>
                  <a:srgbClr val="F95F88"/>
                </a:solidFill>
                <a:latin typeface="Petrona"/>
                <a:ea typeface="Petrona"/>
                <a:cs typeface="Petrona"/>
                <a:sym typeface="Petrona"/>
              </a:rPr>
              <a:t>Introduction &amp; Motivation</a:t>
            </a:r>
            <a:endParaRPr sz="2950" b="0" i="0" u="none" strike="noStrike" cap="none">
              <a:solidFill>
                <a:schemeClr val="dk1"/>
              </a:solidFill>
              <a:latin typeface="Calibri"/>
              <a:ea typeface="Calibri"/>
              <a:cs typeface="Calibri"/>
              <a:sym typeface="Calibri"/>
            </a:endParaRPr>
          </a:p>
        </p:txBody>
      </p:sp>
      <p:sp>
        <p:nvSpPr>
          <p:cNvPr id="26" name="Google Shape;26;p2" descr="preencoded.png"/>
          <p:cNvSpPr/>
          <p:nvPr/>
        </p:nvSpPr>
        <p:spPr>
          <a:xfrm>
            <a:off x="496119" y="2485058"/>
            <a:ext cx="4722763" cy="10611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descr="preencoded.png"/>
          <p:cNvSpPr/>
          <p:nvPr/>
        </p:nvSpPr>
        <p:spPr>
          <a:xfrm>
            <a:off x="496119" y="3679180"/>
            <a:ext cx="4722763" cy="10611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txBox="1"/>
          <p:nvPr/>
        </p:nvSpPr>
        <p:spPr>
          <a:xfrm>
            <a:off x="510950" y="911175"/>
            <a:ext cx="4905000" cy="409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200" b="1">
                <a:solidFill>
                  <a:schemeClr val="dk1"/>
                </a:solidFill>
              </a:rPr>
              <a:t>1. Why Is This Needed?</a:t>
            </a:r>
            <a:endParaRPr sz="1200" b="1">
              <a:solidFill>
                <a:schemeClr val="dk1"/>
              </a:solidFill>
            </a:endParaRPr>
          </a:p>
          <a:p>
            <a:pPr marL="457200" lvl="0" indent="-292100" algn="l" rtl="0">
              <a:lnSpc>
                <a:spcPct val="115000"/>
              </a:lnSpc>
              <a:spcBef>
                <a:spcPts val="1200"/>
              </a:spcBef>
              <a:spcAft>
                <a:spcPts val="0"/>
              </a:spcAft>
              <a:buClr>
                <a:schemeClr val="dk1"/>
              </a:buClr>
              <a:buSzPts val="1000"/>
              <a:buChar char="●"/>
            </a:pPr>
            <a:r>
              <a:rPr lang="en-US" sz="1000">
                <a:solidFill>
                  <a:schemeClr val="dk1"/>
                </a:solidFill>
              </a:rPr>
              <a:t>Enterprise documents are </a:t>
            </a:r>
            <a:r>
              <a:rPr lang="en-US" sz="1000" b="1">
                <a:solidFill>
                  <a:schemeClr val="dk1"/>
                </a:solidFill>
              </a:rPr>
              <a:t>long, complex, and information-dense</a:t>
            </a:r>
            <a:r>
              <a:rPr lang="en-US" sz="1000">
                <a:solidFill>
                  <a:schemeClr val="dk1"/>
                </a:solidFill>
              </a:rPr>
              <a: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a:solidFill>
                  <a:schemeClr val="dk1"/>
                </a:solidFill>
              </a:rPr>
              <a:t>Existing systems struggle with </a:t>
            </a:r>
            <a:r>
              <a:rPr lang="en-US" sz="1000" b="1">
                <a:solidFill>
                  <a:schemeClr val="dk1"/>
                </a:solidFill>
              </a:rPr>
              <a:t>long-context understanding</a:t>
            </a:r>
            <a:r>
              <a:rPr lang="en-US" sz="1000">
                <a:solidFill>
                  <a:schemeClr val="dk1"/>
                </a:solidFill>
              </a:rPr>
              <a:t> and often cannot clearly explain their predictions.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a:solidFill>
                  <a:schemeClr val="dk1"/>
                </a:solidFill>
              </a:rPr>
              <a:t>There is a need to connect </a:t>
            </a:r>
            <a:r>
              <a:rPr lang="en-US" sz="1000" b="1">
                <a:solidFill>
                  <a:schemeClr val="dk1"/>
                </a:solidFill>
              </a:rPr>
              <a:t>text, layout, and structural information</a:t>
            </a:r>
            <a:r>
              <a:rPr lang="en-US" sz="1000">
                <a:solidFill>
                  <a:schemeClr val="dk1"/>
                </a:solidFill>
              </a:rPr>
              <a:t> in document analysis.</a:t>
            </a:r>
            <a:endParaRPr sz="10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200" b="1">
                <a:solidFill>
                  <a:schemeClr val="dk1"/>
                </a:solidFill>
              </a:rPr>
              <a:t>2. Motivation</a:t>
            </a:r>
            <a:endParaRPr sz="1200" b="1">
              <a:solidFill>
                <a:schemeClr val="dk1"/>
              </a:solidFill>
            </a:endParaRPr>
          </a:p>
          <a:p>
            <a:pPr marL="457200" lvl="0" indent="-292100" algn="l" rtl="0">
              <a:lnSpc>
                <a:spcPct val="115000"/>
              </a:lnSpc>
              <a:spcBef>
                <a:spcPts val="1200"/>
              </a:spcBef>
              <a:spcAft>
                <a:spcPts val="0"/>
              </a:spcAft>
              <a:buClr>
                <a:schemeClr val="dk1"/>
              </a:buClr>
              <a:buSzPts val="1000"/>
              <a:buChar char="●"/>
            </a:pPr>
            <a:r>
              <a:rPr lang="en-US" sz="1000">
                <a:solidFill>
                  <a:schemeClr val="dk1"/>
                </a:solidFill>
              </a:rPr>
              <a:t>Develop a </a:t>
            </a:r>
            <a:r>
              <a:rPr lang="en-US" sz="1000" b="1">
                <a:solidFill>
                  <a:schemeClr val="dk1"/>
                </a:solidFill>
              </a:rPr>
              <a:t>transparent and trustworthy</a:t>
            </a:r>
            <a:r>
              <a:rPr lang="en-US" sz="1000">
                <a:solidFill>
                  <a:schemeClr val="dk1"/>
                </a:solidFill>
              </a:rPr>
              <a:t> Document Intelligence system.</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a:solidFill>
                  <a:schemeClr val="dk1"/>
                </a:solidFill>
              </a:rPr>
              <a:t>Combine </a:t>
            </a:r>
            <a:r>
              <a:rPr lang="en-US" sz="1000" b="1">
                <a:solidFill>
                  <a:schemeClr val="dk1"/>
                </a:solidFill>
              </a:rPr>
              <a:t>Long-Context OCR + Hierarchical Layout Understanding + XAI</a:t>
            </a:r>
            <a:r>
              <a:rPr lang="en-US" sz="1000">
                <a:solidFill>
                  <a:schemeClr val="dk1"/>
                </a:solidFill>
              </a:rPr>
              <a: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a:solidFill>
                  <a:schemeClr val="dk1"/>
                </a:solidFill>
              </a:rPr>
              <a:t>Use </a:t>
            </a:r>
            <a:r>
              <a:rPr lang="en-US" sz="1000" b="1">
                <a:solidFill>
                  <a:schemeClr val="dk1"/>
                </a:solidFill>
              </a:rPr>
              <a:t>Integrated Gradients</a:t>
            </a:r>
            <a:r>
              <a:rPr lang="en-US" sz="1000">
                <a:solidFill>
                  <a:schemeClr val="dk1"/>
                </a:solidFill>
              </a:rPr>
              <a:t> to identify which document content influences predictions.</a:t>
            </a:r>
            <a:endParaRPr sz="10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200" b="1">
                <a:solidFill>
                  <a:schemeClr val="dk1"/>
                </a:solidFill>
              </a:rPr>
              <a:t>3. Relevance</a:t>
            </a:r>
            <a:endParaRPr sz="1200" b="1">
              <a:solidFill>
                <a:schemeClr val="dk1"/>
              </a:solidFill>
            </a:endParaRPr>
          </a:p>
          <a:p>
            <a:pPr marL="457200" lvl="0" indent="-292100" algn="l" rtl="0">
              <a:lnSpc>
                <a:spcPct val="115000"/>
              </a:lnSpc>
              <a:spcBef>
                <a:spcPts val="1200"/>
              </a:spcBef>
              <a:spcAft>
                <a:spcPts val="0"/>
              </a:spcAft>
              <a:buClr>
                <a:schemeClr val="dk1"/>
              </a:buClr>
              <a:buSzPts val="1000"/>
              <a:buChar char="●"/>
            </a:pPr>
            <a:r>
              <a:rPr lang="en-US" sz="1000">
                <a:solidFill>
                  <a:schemeClr val="dk1"/>
                </a:solidFill>
              </a:rPr>
              <a:t>Important for </a:t>
            </a:r>
            <a:r>
              <a:rPr lang="en-US" sz="1000" b="1">
                <a:solidFill>
                  <a:schemeClr val="dk1"/>
                </a:solidFill>
              </a:rPr>
              <a:t>enterprise and high-stakes applications</a:t>
            </a:r>
            <a:r>
              <a:rPr lang="en-US" sz="1000">
                <a:solidFill>
                  <a:schemeClr val="dk1"/>
                </a:solidFill>
              </a:rPr>
              <a:t> where incorrect interpretations can have consequences.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a:solidFill>
                  <a:schemeClr val="dk1"/>
                </a:solidFill>
              </a:rPr>
              <a:t>Traceable explanations support </a:t>
            </a:r>
            <a:r>
              <a:rPr lang="en-US" sz="1000" b="1">
                <a:solidFill>
                  <a:schemeClr val="dk1"/>
                </a:solidFill>
              </a:rPr>
              <a:t>human verification and trust</a:t>
            </a:r>
            <a:r>
              <a:rPr lang="en-US" sz="1000">
                <a:solidFill>
                  <a:schemeClr val="dk1"/>
                </a:solidFill>
              </a:rPr>
              <a: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a:solidFill>
                  <a:schemeClr val="dk1"/>
                </a:solidFill>
              </a:rPr>
              <a:t>Can support </a:t>
            </a:r>
            <a:r>
              <a:rPr lang="en-US" sz="1000" b="1">
                <a:solidFill>
                  <a:schemeClr val="dk1"/>
                </a:solidFill>
              </a:rPr>
              <a:t>multi-page and structurally complex documents</a:t>
            </a:r>
            <a:r>
              <a:rPr lang="en-US" sz="1000">
                <a:solidFill>
                  <a:schemeClr val="dk1"/>
                </a:solidFill>
              </a:rPr>
              <a:t>.</a:t>
            </a:r>
            <a:endParaRPr sz="1000">
              <a:solidFill>
                <a:schemeClr val="dk1"/>
              </a:solidFill>
            </a:endParaRPr>
          </a:p>
          <a:p>
            <a:pPr marL="0" lvl="0" indent="0" algn="l" rtl="0">
              <a:spcBef>
                <a:spcPts val="1200"/>
              </a:spcBef>
              <a:spcAft>
                <a:spcPts val="0"/>
              </a:spcAft>
              <a:buNone/>
            </a:pP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pic>
        <p:nvPicPr>
          <p:cNvPr id="34" name="Google Shape;34;p3" descr="preencoded.png"/>
          <p:cNvPicPr preferRelativeResize="0"/>
          <p:nvPr/>
        </p:nvPicPr>
        <p:blipFill rotWithShape="1">
          <a:blip r:embed="rId3">
            <a:alphaModFix/>
          </a:blip>
          <a:srcRect/>
          <a:stretch/>
        </p:blipFill>
        <p:spPr>
          <a:xfrm>
            <a:off x="0" y="17010"/>
            <a:ext cx="9144000" cy="5246359"/>
          </a:xfrm>
          <a:prstGeom prst="rect">
            <a:avLst/>
          </a:prstGeom>
          <a:noFill/>
          <a:ln>
            <a:noFill/>
          </a:ln>
        </p:spPr>
      </p:pic>
      <p:sp>
        <p:nvSpPr>
          <p:cNvPr id="35" name="Google Shape;35;p3"/>
          <p:cNvSpPr/>
          <p:nvPr/>
        </p:nvSpPr>
        <p:spPr>
          <a:xfrm>
            <a:off x="496119" y="409802"/>
            <a:ext cx="8151763" cy="41113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2550"/>
              <a:buFont typeface="Petrona"/>
              <a:buNone/>
            </a:pPr>
            <a:r>
              <a:rPr lang="en-US" sz="2550" b="1" i="0" u="none" strike="noStrike" cap="none">
                <a:solidFill>
                  <a:srgbClr val="F95F88"/>
                </a:solidFill>
                <a:latin typeface="Petrona"/>
                <a:ea typeface="Petrona"/>
                <a:cs typeface="Petrona"/>
                <a:sym typeface="Petrona"/>
              </a:rPr>
              <a:t>Problem Statement</a:t>
            </a:r>
            <a:endParaRPr sz="2550" b="0" i="0" u="none" strike="noStrike" cap="none">
              <a:solidFill>
                <a:schemeClr val="dk1"/>
              </a:solidFill>
              <a:latin typeface="Calibri"/>
              <a:ea typeface="Calibri"/>
              <a:cs typeface="Calibri"/>
              <a:sym typeface="Calibri"/>
            </a:endParaRPr>
          </a:p>
        </p:txBody>
      </p:sp>
      <p:sp>
        <p:nvSpPr>
          <p:cNvPr id="36" name="Google Shape;36;p3"/>
          <p:cNvSpPr/>
          <p:nvPr/>
        </p:nvSpPr>
        <p:spPr>
          <a:xfrm>
            <a:off x="847474" y="992315"/>
            <a:ext cx="269081" cy="269081"/>
          </a:xfrm>
          <a:prstGeom prst="roundRect">
            <a:avLst>
              <a:gd name="adj" fmla="val 186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 name="Google Shape;37;p3"/>
          <p:cNvSpPr/>
          <p:nvPr/>
        </p:nvSpPr>
        <p:spPr>
          <a:xfrm>
            <a:off x="883341" y="1014713"/>
            <a:ext cx="197346" cy="246683"/>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Petrona"/>
              <a:buNone/>
            </a:pPr>
            <a:r>
              <a:rPr lang="en-US" sz="1550" b="1" i="0" u="none" strike="noStrike" cap="none">
                <a:solidFill>
                  <a:srgbClr val="272525"/>
                </a:solidFill>
                <a:latin typeface="Petrona"/>
                <a:ea typeface="Petrona"/>
                <a:cs typeface="Petrona"/>
                <a:sym typeface="Petrona"/>
              </a:rPr>
              <a:t>1</a:t>
            </a:r>
            <a:endParaRPr sz="1550" b="0" i="0" u="none" strike="noStrike" cap="none">
              <a:solidFill>
                <a:schemeClr val="dk1"/>
              </a:solidFill>
              <a:latin typeface="Calibri"/>
              <a:ea typeface="Calibri"/>
              <a:cs typeface="Calibri"/>
              <a:sym typeface="Calibri"/>
            </a:endParaRPr>
          </a:p>
        </p:txBody>
      </p:sp>
      <p:sp>
        <p:nvSpPr>
          <p:cNvPr id="38" name="Google Shape;38;p3"/>
          <p:cNvSpPr/>
          <p:nvPr/>
        </p:nvSpPr>
        <p:spPr>
          <a:xfrm>
            <a:off x="1330003" y="1055864"/>
            <a:ext cx="2293367" cy="20553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250"/>
              <a:buFont typeface="Petrona"/>
              <a:buNone/>
            </a:pPr>
            <a:r>
              <a:rPr lang="en-US" sz="1250" b="1" i="0" u="none" strike="noStrike" cap="none">
                <a:solidFill>
                  <a:srgbClr val="272525"/>
                </a:solidFill>
                <a:latin typeface="Petrona"/>
                <a:ea typeface="Petrona"/>
                <a:cs typeface="Petrona"/>
                <a:sym typeface="Petrona"/>
              </a:rPr>
              <a:t>Background</a:t>
            </a:r>
            <a:endParaRPr sz="1250" b="0" i="0" u="none" strike="noStrike" cap="none">
              <a:solidFill>
                <a:schemeClr val="dk1"/>
              </a:solidFill>
              <a:latin typeface="Calibri"/>
              <a:ea typeface="Calibri"/>
              <a:cs typeface="Calibri"/>
              <a:sym typeface="Calibri"/>
            </a:endParaRPr>
          </a:p>
        </p:txBody>
      </p:sp>
      <p:sp>
        <p:nvSpPr>
          <p:cNvPr id="39" name="Google Shape;39;p3"/>
          <p:cNvSpPr/>
          <p:nvPr/>
        </p:nvSpPr>
        <p:spPr>
          <a:xfrm>
            <a:off x="1330003" y="1502684"/>
            <a:ext cx="2293367" cy="705445"/>
          </a:xfrm>
          <a:prstGeom prst="rect">
            <a:avLst/>
          </a:prstGeom>
          <a:noFill/>
          <a:ln>
            <a:noFill/>
          </a:ln>
        </p:spPr>
        <p:txBody>
          <a:bodyPr spcFirstLastPara="1" wrap="square" lIns="0" tIns="0" rIns="0" bIns="0" anchor="t" anchorCtr="0">
            <a:normAutofit/>
          </a:bodyPr>
          <a:lstStyle/>
          <a:p>
            <a:pPr marL="0" marR="0" lvl="0" indent="0" algn="l" rtl="0">
              <a:lnSpc>
                <a:spcPct val="123000"/>
              </a:lnSpc>
              <a:spcBef>
                <a:spcPts val="0"/>
              </a:spcBef>
              <a:spcAft>
                <a:spcPts val="0"/>
              </a:spcAft>
              <a:buNone/>
            </a:pPr>
            <a:r>
              <a:rPr lang="en-US" sz="900" b="1" i="0" u="none" strike="noStrike" cap="none">
                <a:solidFill>
                  <a:srgbClr val="000000"/>
                </a:solidFill>
                <a:latin typeface="Arial"/>
                <a:ea typeface="Arial"/>
                <a:cs typeface="Arial"/>
                <a:sym typeface="Arial"/>
              </a:rPr>
              <a:t>Current systems can increasingly answer “What is the answer?”, but DeepTrace focuses on answering “What evidence in the document led to this answer?”</a:t>
            </a:r>
            <a:endParaRPr sz="900" b="1" i="0" u="none" strike="noStrike" cap="none">
              <a:solidFill>
                <a:schemeClr val="dk1"/>
              </a:solidFill>
              <a:latin typeface="Calibri"/>
              <a:ea typeface="Calibri"/>
              <a:cs typeface="Calibri"/>
              <a:sym typeface="Calibri"/>
            </a:endParaRPr>
          </a:p>
        </p:txBody>
      </p:sp>
      <p:sp>
        <p:nvSpPr>
          <p:cNvPr id="40" name="Google Shape;40;p3"/>
          <p:cNvSpPr/>
          <p:nvPr/>
        </p:nvSpPr>
        <p:spPr>
          <a:xfrm>
            <a:off x="1906162" y="2505647"/>
            <a:ext cx="269081" cy="269081"/>
          </a:xfrm>
          <a:prstGeom prst="roundRect">
            <a:avLst>
              <a:gd name="adj" fmla="val 186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 name="Google Shape;41;p3"/>
          <p:cNvSpPr/>
          <p:nvPr/>
        </p:nvSpPr>
        <p:spPr>
          <a:xfrm>
            <a:off x="1931384" y="2516847"/>
            <a:ext cx="197346" cy="246683"/>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Petrona"/>
              <a:buNone/>
            </a:pPr>
            <a:r>
              <a:rPr lang="en-US" sz="1550" b="1" i="0" u="none" strike="noStrike" cap="none">
                <a:solidFill>
                  <a:srgbClr val="272525"/>
                </a:solidFill>
                <a:latin typeface="Petrona"/>
                <a:ea typeface="Petrona"/>
                <a:cs typeface="Petrona"/>
                <a:sym typeface="Petrona"/>
              </a:rPr>
              <a:t>2</a:t>
            </a:r>
            <a:endParaRPr sz="1550" b="0" i="0" u="none" strike="noStrike" cap="none">
              <a:solidFill>
                <a:schemeClr val="dk1"/>
              </a:solidFill>
              <a:latin typeface="Calibri"/>
              <a:ea typeface="Calibri"/>
              <a:cs typeface="Calibri"/>
              <a:sym typeface="Calibri"/>
            </a:endParaRPr>
          </a:p>
        </p:txBody>
      </p:sp>
      <p:sp>
        <p:nvSpPr>
          <p:cNvPr id="42" name="Google Shape;42;p3"/>
          <p:cNvSpPr/>
          <p:nvPr/>
        </p:nvSpPr>
        <p:spPr>
          <a:xfrm>
            <a:off x="2219571" y="2537421"/>
            <a:ext cx="2293367" cy="20553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250"/>
              <a:buFont typeface="Petrona"/>
              <a:buNone/>
            </a:pPr>
            <a:r>
              <a:rPr lang="en-US" sz="1250" b="1" i="0" u="none" strike="noStrike" cap="none">
                <a:solidFill>
                  <a:srgbClr val="272525"/>
                </a:solidFill>
                <a:latin typeface="Petrona"/>
                <a:ea typeface="Petrona"/>
                <a:cs typeface="Petrona"/>
                <a:sym typeface="Petrona"/>
              </a:rPr>
              <a:t>Problem Definition</a:t>
            </a:r>
            <a:endParaRPr sz="1250" b="0" i="0" u="none" strike="noStrike" cap="none">
              <a:solidFill>
                <a:schemeClr val="dk1"/>
              </a:solidFill>
              <a:latin typeface="Calibri"/>
              <a:ea typeface="Calibri"/>
              <a:cs typeface="Calibri"/>
              <a:sym typeface="Calibri"/>
            </a:endParaRPr>
          </a:p>
        </p:txBody>
      </p:sp>
      <p:sp>
        <p:nvSpPr>
          <p:cNvPr id="43" name="Google Shape;43;p3"/>
          <p:cNvSpPr/>
          <p:nvPr/>
        </p:nvSpPr>
        <p:spPr>
          <a:xfrm>
            <a:off x="2219570" y="2923308"/>
            <a:ext cx="2512450" cy="1019525"/>
          </a:xfrm>
          <a:prstGeom prst="rect">
            <a:avLst/>
          </a:prstGeom>
          <a:noFill/>
          <a:ln>
            <a:noFill/>
          </a:ln>
        </p:spPr>
        <p:txBody>
          <a:bodyPr spcFirstLastPara="1" wrap="square" lIns="0" tIns="0" rIns="0" bIns="0" anchor="t" anchorCtr="0">
            <a:normAutofit/>
          </a:bodyPr>
          <a:lstStyle/>
          <a:p>
            <a:pPr marL="0" marR="0" lvl="0" indent="0" algn="l" rtl="0">
              <a:lnSpc>
                <a:spcPct val="123000"/>
              </a:lnSpc>
              <a:spcBef>
                <a:spcPts val="0"/>
              </a:spcBef>
              <a:spcAft>
                <a:spcPts val="0"/>
              </a:spcAft>
              <a:buNone/>
            </a:pPr>
            <a:r>
              <a:rPr lang="en-US" sz="900" b="1" i="0" u="none" strike="noStrike" cap="none">
                <a:solidFill>
                  <a:srgbClr val="000000"/>
                </a:solidFill>
                <a:latin typeface="Arial"/>
                <a:ea typeface="Arial"/>
                <a:cs typeface="Arial"/>
                <a:sym typeface="Arial"/>
              </a:rPr>
              <a:t>How can feature-attribution information from a document understanding model be mapped back to the corresponding OCR-derived text and spatial regions of a medical or legal document to produce a human-interpretable explanation of the model's prediction?</a:t>
            </a:r>
            <a:endParaRPr sz="900" b="1" i="0" u="none" strike="noStrike" cap="none">
              <a:solidFill>
                <a:schemeClr val="dk1"/>
              </a:solidFill>
              <a:latin typeface="Calibri"/>
              <a:ea typeface="Calibri"/>
              <a:cs typeface="Calibri"/>
              <a:sym typeface="Calibri"/>
            </a:endParaRPr>
          </a:p>
        </p:txBody>
      </p:sp>
      <p:sp>
        <p:nvSpPr>
          <p:cNvPr id="44" name="Google Shape;44;p3"/>
          <p:cNvSpPr/>
          <p:nvPr/>
        </p:nvSpPr>
        <p:spPr>
          <a:xfrm>
            <a:off x="5988337" y="3026465"/>
            <a:ext cx="269081" cy="269081"/>
          </a:xfrm>
          <a:prstGeom prst="roundRect">
            <a:avLst>
              <a:gd name="adj" fmla="val 186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 name="Google Shape;45;p3"/>
          <p:cNvSpPr/>
          <p:nvPr/>
        </p:nvSpPr>
        <p:spPr>
          <a:xfrm>
            <a:off x="6037212" y="3048863"/>
            <a:ext cx="197346" cy="246683"/>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Petrona"/>
              <a:buNone/>
            </a:pPr>
            <a:r>
              <a:rPr lang="en-US" sz="1550" b="1" i="0" u="none" strike="noStrike" cap="none">
                <a:solidFill>
                  <a:srgbClr val="272525"/>
                </a:solidFill>
                <a:latin typeface="Petrona"/>
                <a:ea typeface="Petrona"/>
                <a:cs typeface="Petrona"/>
                <a:sym typeface="Petrona"/>
              </a:rPr>
              <a:t>3</a:t>
            </a:r>
            <a:endParaRPr sz="1550" b="0" i="0" u="none" strike="noStrike" cap="none">
              <a:solidFill>
                <a:schemeClr val="dk1"/>
              </a:solidFill>
              <a:latin typeface="Calibri"/>
              <a:ea typeface="Calibri"/>
              <a:cs typeface="Calibri"/>
              <a:sym typeface="Calibri"/>
            </a:endParaRPr>
          </a:p>
        </p:txBody>
      </p:sp>
      <p:sp>
        <p:nvSpPr>
          <p:cNvPr id="46" name="Google Shape;46;p3"/>
          <p:cNvSpPr/>
          <p:nvPr/>
        </p:nvSpPr>
        <p:spPr>
          <a:xfrm>
            <a:off x="6332548" y="3072516"/>
            <a:ext cx="2293367" cy="20553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250"/>
              <a:buFont typeface="Petrona"/>
              <a:buNone/>
            </a:pPr>
            <a:r>
              <a:rPr lang="en-US" sz="1250" b="1" i="0" u="none" strike="noStrike" cap="none">
                <a:solidFill>
                  <a:srgbClr val="272525"/>
                </a:solidFill>
                <a:latin typeface="Petrona"/>
                <a:ea typeface="Petrona"/>
                <a:cs typeface="Petrona"/>
                <a:sym typeface="Petrona"/>
              </a:rPr>
              <a:t>Need for the Project</a:t>
            </a:r>
            <a:endParaRPr sz="1250" b="0" i="0" u="none" strike="noStrike" cap="none">
              <a:solidFill>
                <a:schemeClr val="dk1"/>
              </a:solidFill>
              <a:latin typeface="Calibri"/>
              <a:ea typeface="Calibri"/>
              <a:cs typeface="Calibri"/>
              <a:sym typeface="Calibri"/>
            </a:endParaRPr>
          </a:p>
        </p:txBody>
      </p:sp>
      <p:sp>
        <p:nvSpPr>
          <p:cNvPr id="47" name="Google Shape;47;p3"/>
          <p:cNvSpPr/>
          <p:nvPr/>
        </p:nvSpPr>
        <p:spPr>
          <a:xfrm>
            <a:off x="6332548" y="3433070"/>
            <a:ext cx="2685351" cy="171043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None/>
            </a:pPr>
            <a:r>
              <a:rPr lang="en-US" sz="900" b="1" i="0" u="none" strike="noStrike" cap="none">
                <a:solidFill>
                  <a:srgbClr val="000000"/>
                </a:solidFill>
                <a:latin typeface="Arial"/>
                <a:ea typeface="Arial"/>
                <a:cs typeface="Arial"/>
                <a:sym typeface="Arial"/>
              </a:rPr>
              <a:t>Trust:</a:t>
            </a:r>
            <a:r>
              <a:rPr lang="en-US" sz="900" b="0" i="0" u="none" strike="noStrike" cap="none">
                <a:solidFill>
                  <a:srgbClr val="000000"/>
                </a:solidFill>
                <a:latin typeface="Arial"/>
                <a:ea typeface="Arial"/>
                <a:cs typeface="Arial"/>
                <a:sym typeface="Arial"/>
              </a:rPr>
              <a:t> Users need to verify AI-generated results against the source document. </a:t>
            </a:r>
            <a:endParaRPr/>
          </a:p>
          <a:p>
            <a:pPr marL="0" marR="0" lvl="0" indent="0" algn="l" rtl="0">
              <a:lnSpc>
                <a:spcPct val="100000"/>
              </a:lnSpc>
              <a:spcBef>
                <a:spcPts val="0"/>
              </a:spcBef>
              <a:spcAft>
                <a:spcPts val="0"/>
              </a:spcAft>
              <a:buNone/>
            </a:pPr>
            <a:r>
              <a:rPr lang="en-US" sz="900" b="1" i="0" u="none" strike="noStrike" cap="none">
                <a:solidFill>
                  <a:srgbClr val="000000"/>
                </a:solidFill>
                <a:latin typeface="Arial"/>
                <a:ea typeface="Arial"/>
                <a:cs typeface="Arial"/>
                <a:sym typeface="Arial"/>
              </a:rPr>
              <a:t>Transparency:</a:t>
            </a:r>
            <a:r>
              <a:rPr lang="en-US" sz="900" b="0" i="0" u="none" strike="noStrike" cap="none">
                <a:solidFill>
                  <a:srgbClr val="000000"/>
                </a:solidFill>
                <a:latin typeface="Arial"/>
                <a:ea typeface="Arial"/>
                <a:cs typeface="Arial"/>
                <a:sym typeface="Arial"/>
              </a:rPr>
              <a:t> Models should provide evidence rather than only predictions. </a:t>
            </a:r>
            <a:endParaRPr/>
          </a:p>
          <a:p>
            <a:pPr marL="0" marR="0" lvl="0" indent="0" algn="l" rtl="0">
              <a:lnSpc>
                <a:spcPct val="100000"/>
              </a:lnSpc>
              <a:spcBef>
                <a:spcPts val="0"/>
              </a:spcBef>
              <a:spcAft>
                <a:spcPts val="0"/>
              </a:spcAft>
              <a:buNone/>
            </a:pPr>
            <a:r>
              <a:rPr lang="en-US" sz="900" b="1" i="0" u="none" strike="noStrike" cap="none">
                <a:solidFill>
                  <a:srgbClr val="000000"/>
                </a:solidFill>
                <a:latin typeface="Arial"/>
                <a:ea typeface="Arial"/>
                <a:cs typeface="Arial"/>
                <a:sym typeface="Arial"/>
              </a:rPr>
              <a:t>Efficiency:</a:t>
            </a:r>
            <a:r>
              <a:rPr lang="en-US" sz="900" b="0" i="0" u="none" strike="noStrike" cap="none">
                <a:solidFill>
                  <a:srgbClr val="000000"/>
                </a:solidFill>
                <a:latin typeface="Arial"/>
                <a:ea typeface="Arial"/>
                <a:cs typeface="Arial"/>
                <a:sym typeface="Arial"/>
              </a:rPr>
              <a:t> Highlighting relevant regions can reduce manual document verification. </a:t>
            </a:r>
            <a:endParaRPr/>
          </a:p>
          <a:p>
            <a:pPr marL="0" marR="0" lvl="0" indent="0" algn="l" rtl="0">
              <a:lnSpc>
                <a:spcPct val="100000"/>
              </a:lnSpc>
              <a:spcBef>
                <a:spcPts val="0"/>
              </a:spcBef>
              <a:spcAft>
                <a:spcPts val="0"/>
              </a:spcAft>
              <a:buNone/>
            </a:pPr>
            <a:r>
              <a:rPr lang="en-US" sz="900" b="1" i="0" u="none" strike="noStrike" cap="none">
                <a:solidFill>
                  <a:srgbClr val="000000"/>
                </a:solidFill>
                <a:latin typeface="Arial"/>
                <a:ea typeface="Arial"/>
                <a:cs typeface="Arial"/>
                <a:sym typeface="Arial"/>
              </a:rPr>
              <a:t>Reliability:</a:t>
            </a:r>
            <a:r>
              <a:rPr lang="en-US" sz="900" b="0" i="0" u="none" strike="noStrike" cap="none">
                <a:solidFill>
                  <a:srgbClr val="000000"/>
                </a:solidFill>
                <a:latin typeface="Arial"/>
                <a:ea typeface="Arial"/>
                <a:cs typeface="Arial"/>
                <a:sym typeface="Arial"/>
              </a:rPr>
              <a:t> Evidence localization can help identify incorrect or irrelevant model reasoning. </a:t>
            </a:r>
            <a:endParaRPr/>
          </a:p>
          <a:p>
            <a:pPr marL="0" marR="0" lvl="0" indent="0" algn="l" rtl="0">
              <a:lnSpc>
                <a:spcPct val="100000"/>
              </a:lnSpc>
              <a:spcBef>
                <a:spcPts val="0"/>
              </a:spcBef>
              <a:spcAft>
                <a:spcPts val="0"/>
              </a:spcAft>
              <a:buNone/>
            </a:pPr>
            <a:r>
              <a:rPr lang="en-US" sz="900" b="1" i="0" u="none" strike="noStrike" cap="none">
                <a:solidFill>
                  <a:srgbClr val="000000"/>
                </a:solidFill>
                <a:latin typeface="Arial"/>
                <a:ea typeface="Arial"/>
                <a:cs typeface="Arial"/>
                <a:sym typeface="Arial"/>
              </a:rPr>
              <a:t>High-impact applications:</a:t>
            </a:r>
            <a:r>
              <a:rPr lang="en-US" sz="900" b="0" i="0" u="none" strike="noStrike" cap="none">
                <a:solidFill>
                  <a:srgbClr val="000000"/>
                </a:solidFill>
                <a:latin typeface="Arial"/>
                <a:ea typeface="Arial"/>
                <a:cs typeface="Arial"/>
                <a:sym typeface="Arial"/>
              </a:rPr>
              <a:t> Particularly valuable for </a:t>
            </a:r>
            <a:r>
              <a:rPr lang="en-US" sz="900" b="1" i="0" u="none" strike="noStrike" cap="none">
                <a:solidFill>
                  <a:srgbClr val="000000"/>
                </a:solidFill>
                <a:latin typeface="Arial"/>
                <a:ea typeface="Arial"/>
                <a:cs typeface="Arial"/>
                <a:sym typeface="Arial"/>
              </a:rPr>
              <a:t>medical and legal research</a:t>
            </a:r>
            <a:r>
              <a:rPr lang="en-US" sz="900" b="0" i="0" u="none" strike="noStrike" cap="none">
                <a:solidFill>
                  <a:srgbClr val="000000"/>
                </a:solidFill>
                <a:latin typeface="Arial"/>
                <a:ea typeface="Arial"/>
                <a:cs typeface="Arial"/>
                <a:sym typeface="Arial"/>
              </a:rPr>
              <a:t>, with potential applications in government, academia, finance, and other complex document-processing workflows.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75" name="Google Shape;75;p4"/>
          <p:cNvSpPr/>
          <p:nvPr/>
        </p:nvSpPr>
        <p:spPr>
          <a:xfrm>
            <a:off x="7147620" y="3314551"/>
            <a:ext cx="1819796" cy="205978"/>
          </a:xfrm>
          <a:prstGeom prst="rect">
            <a:avLst/>
          </a:prstGeom>
          <a:noFill/>
          <a:ln>
            <a:noFill/>
          </a:ln>
        </p:spPr>
        <p:txBody>
          <a:bodyPr spcFirstLastPara="1" wrap="square" lIns="0" tIns="0" rIns="0" bIns="0" anchor="t" anchorCtr="0">
            <a:noAutofit/>
          </a:bodyPr>
          <a:lstStyle/>
          <a:p>
            <a:pPr marL="0" marR="0" lvl="0" indent="0" algn="l" rtl="0">
              <a:lnSpc>
                <a:spcPct val="129000"/>
              </a:lnSpc>
              <a:spcBef>
                <a:spcPts val="0"/>
              </a:spcBef>
              <a:spcAft>
                <a:spcPts val="0"/>
              </a:spcAft>
              <a:buClr>
                <a:srgbClr val="FFFFFF"/>
              </a:buClr>
              <a:buSzPts val="1000"/>
              <a:buFont typeface="Inter"/>
              <a:buNone/>
            </a:pPr>
            <a:r>
              <a:rPr lang="en-US" sz="1000" b="1" i="0" u="none" strike="noStrike" cap="none">
                <a:solidFill>
                  <a:srgbClr val="FFFFFF"/>
                </a:solidFill>
                <a:latin typeface="Inter"/>
                <a:ea typeface="Inter"/>
                <a:cs typeface="Inter"/>
                <a:sym typeface="Inter"/>
              </a:rPr>
              <a:t>Limitation</a:t>
            </a:r>
            <a:endParaRPr sz="1000" b="0" i="0" u="none" strike="noStrike" cap="none">
              <a:solidFill>
                <a:schemeClr val="dk1"/>
              </a:solidFill>
              <a:latin typeface="Calibri"/>
              <a:ea typeface="Calibri"/>
              <a:cs typeface="Calibri"/>
              <a:sym typeface="Calibri"/>
            </a:endParaRPr>
          </a:p>
        </p:txBody>
      </p:sp>
      <p:sp>
        <p:nvSpPr>
          <p:cNvPr id="5" name="Google Shape;99;g3f6d2771d9a_0_2">
            <a:extLst>
              <a:ext uri="{FF2B5EF4-FFF2-40B4-BE49-F238E27FC236}">
                <a16:creationId xmlns:a16="http://schemas.microsoft.com/office/drawing/2014/main" id="{54DB2BE9-63C9-EA8D-5FDD-9A6E879E1C78}"/>
              </a:ext>
            </a:extLst>
          </p:cNvPr>
          <p:cNvSpPr/>
          <p:nvPr/>
        </p:nvSpPr>
        <p:spPr>
          <a:xfrm>
            <a:off x="370324" y="-251625"/>
            <a:ext cx="4788973" cy="5088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rgbClr val="F95F88"/>
              </a:buClr>
              <a:buSzPts val="2850"/>
              <a:buFont typeface="Petrona"/>
              <a:buNone/>
            </a:pPr>
            <a:br>
              <a:rPr lang="en-US" sz="3150" b="1" dirty="0">
                <a:solidFill>
                  <a:srgbClr val="F95F88"/>
                </a:solidFill>
                <a:latin typeface="Petrona"/>
                <a:ea typeface="Petrona"/>
                <a:cs typeface="Petrona"/>
                <a:sym typeface="Petrona"/>
              </a:rPr>
            </a:br>
            <a:r>
              <a:rPr lang="en-US" sz="1700" b="1" dirty="0">
                <a:solidFill>
                  <a:srgbClr val="F95F88"/>
                </a:solidFill>
                <a:latin typeface="Petrona"/>
                <a:ea typeface="Petrona"/>
                <a:cs typeface="Petrona"/>
                <a:sym typeface="Petrona"/>
              </a:rPr>
              <a:t>2.1 Long Context Document Understanding</a:t>
            </a:r>
            <a:endParaRPr sz="1700" b="1" dirty="0">
              <a:solidFill>
                <a:srgbClr val="F95F88"/>
              </a:solidFill>
              <a:latin typeface="Petrona"/>
              <a:ea typeface="Petrona"/>
              <a:cs typeface="Petrona"/>
              <a:sym typeface="Petrona"/>
            </a:endParaRPr>
          </a:p>
          <a:p>
            <a:pPr marL="0" marR="0" lvl="0" indent="0" algn="l" rtl="0">
              <a:lnSpc>
                <a:spcPct val="104000"/>
              </a:lnSpc>
              <a:spcBef>
                <a:spcPts val="0"/>
              </a:spcBef>
              <a:spcAft>
                <a:spcPts val="0"/>
              </a:spcAft>
              <a:buClr>
                <a:srgbClr val="F95F88"/>
              </a:buClr>
              <a:buSzPts val="2850"/>
              <a:buFont typeface="Petrona"/>
              <a:buNone/>
            </a:pPr>
            <a:endParaRPr sz="2950" b="1" dirty="0">
              <a:solidFill>
                <a:srgbClr val="F95F88"/>
              </a:solidFill>
              <a:latin typeface="Petrona"/>
              <a:ea typeface="Petrona"/>
              <a:cs typeface="Petrona"/>
              <a:sym typeface="Petrona"/>
            </a:endParaRPr>
          </a:p>
        </p:txBody>
      </p:sp>
      <p:sp>
        <p:nvSpPr>
          <p:cNvPr id="7" name="Google Shape;100;g3f6d2771d9a_0_2">
            <a:extLst>
              <a:ext uri="{FF2B5EF4-FFF2-40B4-BE49-F238E27FC236}">
                <a16:creationId xmlns:a16="http://schemas.microsoft.com/office/drawing/2014/main" id="{AF7C64A3-E7BB-E22E-3546-98F71ECD959D}"/>
              </a:ext>
            </a:extLst>
          </p:cNvPr>
          <p:cNvSpPr/>
          <p:nvPr/>
        </p:nvSpPr>
        <p:spPr>
          <a:xfrm>
            <a:off x="225124" y="585641"/>
            <a:ext cx="3897900" cy="4412100"/>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101;g3f6d2771d9a_0_2">
            <a:extLst>
              <a:ext uri="{FF2B5EF4-FFF2-40B4-BE49-F238E27FC236}">
                <a16:creationId xmlns:a16="http://schemas.microsoft.com/office/drawing/2014/main" id="{09F72FB4-B68F-FE26-55BB-69D36E262756}"/>
              </a:ext>
            </a:extLst>
          </p:cNvPr>
          <p:cNvSpPr/>
          <p:nvPr/>
        </p:nvSpPr>
        <p:spPr>
          <a:xfrm>
            <a:off x="362747" y="770641"/>
            <a:ext cx="2834700" cy="228600"/>
          </a:xfrm>
          <a:prstGeom prst="rect">
            <a:avLst/>
          </a:prstGeom>
          <a:noFill/>
          <a:ln>
            <a:noFill/>
          </a:ln>
        </p:spPr>
        <p:txBody>
          <a:bodyPr spcFirstLastPara="1" wrap="square" lIns="0" tIns="0" rIns="0" bIns="0" anchor="t" anchorCtr="0">
            <a:noAutofit/>
          </a:bodyPr>
          <a:lstStyle/>
          <a:p>
            <a:pPr lvl="0">
              <a:lnSpc>
                <a:spcPct val="104000"/>
              </a:lnSpc>
            </a:pPr>
            <a:r>
              <a:rPr lang="en-US" sz="1500" b="1" dirty="0">
                <a:solidFill>
                  <a:srgbClr val="272525"/>
                </a:solidFill>
                <a:latin typeface="Petrona"/>
                <a:ea typeface="Petrona"/>
                <a:cs typeface="Petrona"/>
                <a:sym typeface="Petrona"/>
              </a:rPr>
              <a:t>1)  </a:t>
            </a:r>
            <a:r>
              <a:rPr lang="en-US" sz="1500" b="1" dirty="0">
                <a:solidFill>
                  <a:srgbClr val="272525"/>
                </a:solidFill>
                <a:latin typeface="Petrona"/>
              </a:rPr>
              <a:t>Attention Is All You Need</a:t>
            </a:r>
            <a:endParaRPr sz="1500" b="1" dirty="0">
              <a:solidFill>
                <a:srgbClr val="272525"/>
              </a:solidFill>
              <a:latin typeface="Petrona"/>
              <a:sym typeface="Calibri"/>
            </a:endParaRPr>
          </a:p>
        </p:txBody>
      </p:sp>
      <mc:AlternateContent xmlns:mc="http://schemas.openxmlformats.org/markup-compatibility/2006">
        <mc:Choice xmlns:a14="http://schemas.microsoft.com/office/drawing/2010/main" Requires="a14">
          <p:sp>
            <p:nvSpPr>
              <p:cNvPr id="11" name="Google Shape;102;g3f6d2771d9a_0_2">
                <a:extLst>
                  <a:ext uri="{FF2B5EF4-FFF2-40B4-BE49-F238E27FC236}">
                    <a16:creationId xmlns:a16="http://schemas.microsoft.com/office/drawing/2014/main" id="{4B4CBE29-E2DC-7A20-B806-6F4F34BD8552}"/>
                  </a:ext>
                </a:extLst>
              </p:cNvPr>
              <p:cNvSpPr/>
              <p:nvPr/>
            </p:nvSpPr>
            <p:spPr>
              <a:xfrm>
                <a:off x="370324" y="832625"/>
                <a:ext cx="3607500" cy="4165116"/>
              </a:xfrm>
              <a:prstGeom prst="rect">
                <a:avLst/>
              </a:prstGeom>
              <a:noFill/>
              <a:ln>
                <a:noFill/>
              </a:ln>
            </p:spPr>
            <p:txBody>
              <a:bodyPr spcFirstLastPara="1" wrap="square" lIns="0" tIns="0" rIns="0" bIns="0" anchor="t" anchorCtr="0">
                <a:noAutofit/>
              </a:bodyPr>
              <a:lstStyle/>
              <a:p>
                <a:pPr lvl="0">
                  <a:lnSpc>
                    <a:spcPct val="115000"/>
                  </a:lnSpc>
                  <a:spcBef>
                    <a:spcPts val="1200"/>
                  </a:spcBef>
                  <a:buClr>
                    <a:schemeClr val="dk1"/>
                  </a:buClr>
                  <a:buSzPts val="1100"/>
                </a:pPr>
                <a:r>
                  <a:rPr lang="en-US" sz="900" b="1" dirty="0">
                    <a:solidFill>
                      <a:schemeClr val="dk1"/>
                    </a:solidFill>
                  </a:rPr>
                  <a:t>Vaswani et al. (2017)</a:t>
                </a:r>
              </a:p>
              <a:p>
                <a:pPr marL="0" lvl="0" indent="0" algn="l" rtl="0">
                  <a:lnSpc>
                    <a:spcPct val="115000"/>
                  </a:lnSpc>
                  <a:spcBef>
                    <a:spcPts val="1200"/>
                  </a:spcBef>
                  <a:spcAft>
                    <a:spcPts val="0"/>
                  </a:spcAft>
                  <a:buClr>
                    <a:schemeClr val="dk1"/>
                  </a:buClr>
                  <a:buSzPts val="1100"/>
                  <a:buFont typeface="Arial"/>
                  <a:buNone/>
                </a:pPr>
                <a:r>
                  <a:rPr lang="en-US" sz="900" b="1" dirty="0">
                    <a:solidFill>
                      <a:schemeClr val="dk1"/>
                    </a:solidFill>
                  </a:rPr>
                  <a:t>CORE IDEA</a:t>
                </a:r>
              </a:p>
              <a:p>
                <a:pPr marL="171450" lvl="0" indent="-171450">
                  <a:buFont typeface="Courier New" panose="02070309020205020404" pitchFamily="49" charset="0"/>
                  <a:buChar char="o"/>
                </a:pPr>
                <a:r>
                  <a:rPr lang="en-US" sz="900" dirty="0">
                    <a:solidFill>
                      <a:schemeClr val="dk1"/>
                    </a:solidFill>
                  </a:rPr>
                  <a:t>Replaced recurrence with self-attention and feed-forward layers. </a:t>
                </a:r>
              </a:p>
              <a:p>
                <a:pPr marL="171450" lvl="0" indent="-171450">
                  <a:buFont typeface="Courier New" panose="02070309020205020404" pitchFamily="49" charset="0"/>
                  <a:buChar char="o"/>
                </a:pPr>
                <a:r>
                  <a:rPr lang="en-US" sz="900" dirty="0">
                    <a:solidFill>
                      <a:schemeClr val="dk1"/>
                    </a:solidFill>
                  </a:rPr>
                  <a:t>Enabled direct interaction between distant tokens. </a:t>
                </a:r>
              </a:p>
              <a:p>
                <a:pPr marL="171450" lvl="0" indent="-171450">
                  <a:buFont typeface="Courier New" panose="02070309020205020404" pitchFamily="49" charset="0"/>
                  <a:buChar char="o"/>
                </a:pPr>
                <a:r>
                  <a:rPr lang="en-US" sz="900" dirty="0">
                    <a:solidFill>
                      <a:schemeClr val="dk1"/>
                    </a:solidFill>
                  </a:rPr>
                  <a:t>Improved parallelization compared with recurrent sequence processing. </a:t>
                </a:r>
              </a:p>
              <a:p>
                <a:pPr marL="171450" lvl="0" indent="-171450">
                  <a:buFont typeface="Courier New" panose="02070309020205020404" pitchFamily="49" charset="0"/>
                  <a:buChar char="o"/>
                </a:pPr>
                <a:r>
                  <a:rPr lang="en-US" sz="900" dirty="0">
                    <a:solidFill>
                      <a:schemeClr val="dk1"/>
                    </a:solidFill>
                  </a:rPr>
                  <a:t>Established the dominant architecture for modern language and document models.</a:t>
                </a:r>
              </a:p>
              <a:p>
                <a:pPr lvl="0"/>
                <a:endParaRPr lang="en-US" sz="900" dirty="0"/>
              </a:p>
              <a:p>
                <a:pPr lvl="0"/>
                <a:endParaRPr lang="en-US" sz="900" dirty="0"/>
              </a:p>
              <a:p>
                <a:pPr lvl="0"/>
                <a:endParaRPr lang="en-US" sz="900" dirty="0"/>
              </a:p>
              <a:p>
                <a:pPr lvl="0"/>
                <a:endParaRPr lang="en-US" sz="900" dirty="0"/>
              </a:p>
              <a:p>
                <a:pPr lvl="0"/>
                <a:endParaRPr lang="en-US" sz="900" dirty="0"/>
              </a:p>
              <a:p>
                <a:pPr lvl="0"/>
                <a:endParaRPr lang="en-US" sz="900" dirty="0"/>
              </a:p>
              <a:p>
                <a:pPr lvl="0"/>
                <a:endParaRPr lang="en-US" sz="900" dirty="0"/>
              </a:p>
              <a:p>
                <a:pPr lvl="0"/>
                <a:endParaRPr lang="en-US" sz="900" dirty="0"/>
              </a:p>
              <a:p>
                <a:endParaRPr lang="en-US" sz="900" dirty="0"/>
              </a:p>
              <a:p>
                <a:endParaRPr lang="en-US" sz="900" dirty="0"/>
              </a:p>
              <a:p>
                <a:endParaRPr lang="en-US" sz="900" dirty="0"/>
              </a:p>
              <a:p>
                <a:endParaRPr lang="en-US" sz="900" dirty="0"/>
              </a:p>
              <a:p>
                <a:endParaRPr lang="en-US" sz="900" dirty="0"/>
              </a:p>
              <a:p>
                <a:endParaRPr lang="en-US" sz="900" dirty="0"/>
              </a:p>
              <a:p>
                <a:endParaRPr lang="en-US" sz="900" dirty="0"/>
              </a:p>
              <a:p>
                <a:r>
                  <a:rPr lang="en-US" sz="900" dirty="0"/>
                  <a:t>However, full self-attention requires every token to interact with every other token resulting in </a:t>
                </a:r>
                <a:r>
                  <a:rPr lang="en-US" sz="1200" dirty="0"/>
                  <a:t>O(</a:t>
                </a:r>
                <a14:m>
                  <m:oMath xmlns:m="http://schemas.openxmlformats.org/officeDocument/2006/math">
                    <m:sSup>
                      <m:sSupPr>
                        <m:ctrlPr>
                          <a:rPr lang="ar-AE" sz="1200" b="0" i="1" smtClean="0">
                            <a:latin typeface="Cambria Math" panose="02040503050406030204" pitchFamily="18" charset="0"/>
                          </a:rPr>
                        </m:ctrlPr>
                      </m:sSupPr>
                      <m:e>
                        <m:r>
                          <a:rPr lang="ar-AE" sz="1200" b="0" i="1" smtClean="0">
                            <a:latin typeface="Cambria Math" panose="02040503050406030204" pitchFamily="18" charset="0"/>
                          </a:rPr>
                          <m:t>𝑁</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oMath>
                </a14:m>
                <a:endParaRPr lang="ar-AE" sz="1200" dirty="0"/>
              </a:p>
              <a:p>
                <a:r>
                  <a:rPr lang="en-US" sz="900" dirty="0"/>
                  <a:t>As document length increases, this becomes the central scalability challenge.</a:t>
                </a:r>
              </a:p>
              <a:p>
                <a:pPr lvl="0"/>
                <a:endParaRPr lang="en-US" sz="900" dirty="0"/>
              </a:p>
              <a:p>
                <a:pPr marL="0" lvl="0" indent="0" algn="l" rtl="0">
                  <a:lnSpc>
                    <a:spcPct val="115000"/>
                  </a:lnSpc>
                  <a:spcBef>
                    <a:spcPts val="1200"/>
                  </a:spcBef>
                  <a:spcAft>
                    <a:spcPts val="0"/>
                  </a:spcAft>
                  <a:buClr>
                    <a:schemeClr val="dk1"/>
                  </a:buClr>
                  <a:buSzPts val="1100"/>
                  <a:buFont typeface="Arial"/>
                  <a:buNone/>
                </a:pPr>
                <a:endParaRPr lang="en-US" sz="9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lang="en-US" sz="900" dirty="0">
                  <a:solidFill>
                    <a:schemeClr val="dk1"/>
                  </a:solidFill>
                </a:endParaRPr>
              </a:p>
              <a:p>
                <a:pPr marL="0" marR="0" lvl="0" indent="0" algn="l" rtl="0">
                  <a:lnSpc>
                    <a:spcPct val="129000"/>
                  </a:lnSpc>
                  <a:spcBef>
                    <a:spcPts val="1200"/>
                  </a:spcBef>
                  <a:spcAft>
                    <a:spcPts val="0"/>
                  </a:spcAft>
                  <a:buClr>
                    <a:srgbClr val="272525"/>
                  </a:buClr>
                  <a:buSzPts val="1000"/>
                  <a:buFont typeface="Inter"/>
                  <a:buNone/>
                </a:pPr>
                <a:endParaRPr sz="900" dirty="0">
                  <a:solidFill>
                    <a:schemeClr val="dk1"/>
                  </a:solidFill>
                  <a:latin typeface="Calibri"/>
                  <a:ea typeface="Calibri"/>
                  <a:cs typeface="Calibri"/>
                  <a:sym typeface="Calibri"/>
                </a:endParaRPr>
              </a:p>
            </p:txBody>
          </p:sp>
        </mc:Choice>
        <mc:Fallback>
          <p:sp>
            <p:nvSpPr>
              <p:cNvPr id="11" name="Google Shape;102;g3f6d2771d9a_0_2">
                <a:extLst>
                  <a:ext uri="{FF2B5EF4-FFF2-40B4-BE49-F238E27FC236}">
                    <a16:creationId xmlns:a16="http://schemas.microsoft.com/office/drawing/2014/main" id="{4B4CBE29-E2DC-7A20-B806-6F4F34BD8552}"/>
                  </a:ext>
                </a:extLst>
              </p:cNvPr>
              <p:cNvSpPr>
                <a:spLocks noRot="1" noChangeAspect="1" noMove="1" noResize="1" noEditPoints="1" noAdjustHandles="1" noChangeArrowheads="1" noChangeShapeType="1" noTextEdit="1"/>
              </p:cNvSpPr>
              <p:nvPr/>
            </p:nvSpPr>
            <p:spPr>
              <a:xfrm>
                <a:off x="370324" y="832625"/>
                <a:ext cx="3607500" cy="4165116"/>
              </a:xfrm>
              <a:prstGeom prst="rect">
                <a:avLst/>
              </a:prstGeom>
              <a:blipFill>
                <a:blip r:embed="rId3"/>
                <a:stretch>
                  <a:fillRect l="-2027"/>
                </a:stretch>
              </a:blipFill>
              <a:ln>
                <a:noFill/>
              </a:ln>
            </p:spPr>
            <p:txBody>
              <a:bodyPr/>
              <a:lstStyle/>
              <a:p>
                <a:r>
                  <a:rPr lang="en-US">
                    <a:noFill/>
                  </a:rPr>
                  <a:t> </a:t>
                </a:r>
              </a:p>
            </p:txBody>
          </p:sp>
        </mc:Fallback>
      </mc:AlternateContent>
      <p:sp>
        <p:nvSpPr>
          <p:cNvPr id="13" name="Google Shape;103;g3f6d2771d9a_0_2">
            <a:extLst>
              <a:ext uri="{FF2B5EF4-FFF2-40B4-BE49-F238E27FC236}">
                <a16:creationId xmlns:a16="http://schemas.microsoft.com/office/drawing/2014/main" id="{3205A60C-8A24-FF45-0E4B-0D2ABC1370BD}"/>
              </a:ext>
            </a:extLst>
          </p:cNvPr>
          <p:cNvSpPr/>
          <p:nvPr/>
        </p:nvSpPr>
        <p:spPr>
          <a:xfrm>
            <a:off x="6151290" y="1619473"/>
            <a:ext cx="2358900" cy="228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400"/>
              <a:buFont typeface="Petrona"/>
              <a:buNone/>
            </a:pPr>
            <a:endParaRPr sz="1400">
              <a:solidFill>
                <a:schemeClr val="dk1"/>
              </a:solidFill>
              <a:latin typeface="Calibri"/>
              <a:ea typeface="Calibri"/>
              <a:cs typeface="Calibri"/>
              <a:sym typeface="Calibri"/>
            </a:endParaRPr>
          </a:p>
        </p:txBody>
      </p:sp>
      <p:pic>
        <p:nvPicPr>
          <p:cNvPr id="15" name="Picture 14">
            <a:extLst>
              <a:ext uri="{FF2B5EF4-FFF2-40B4-BE49-F238E27FC236}">
                <a16:creationId xmlns:a16="http://schemas.microsoft.com/office/drawing/2014/main" id="{6267DD8A-75A4-ED53-4728-B060D1C9FC2D}"/>
              </a:ext>
            </a:extLst>
          </p:cNvPr>
          <p:cNvPicPr>
            <a:picLocks noChangeAspect="1"/>
          </p:cNvPicPr>
          <p:nvPr/>
        </p:nvPicPr>
        <p:blipFill>
          <a:blip r:embed="rId4"/>
          <a:stretch>
            <a:fillRect/>
          </a:stretch>
        </p:blipFill>
        <p:spPr>
          <a:xfrm>
            <a:off x="297315" y="2289716"/>
            <a:ext cx="3704755" cy="2021159"/>
          </a:xfrm>
          <a:prstGeom prst="rect">
            <a:avLst/>
          </a:prstGeom>
        </p:spPr>
      </p:pic>
      <p:pic>
        <p:nvPicPr>
          <p:cNvPr id="17" name="Picture 16">
            <a:extLst>
              <a:ext uri="{FF2B5EF4-FFF2-40B4-BE49-F238E27FC236}">
                <a16:creationId xmlns:a16="http://schemas.microsoft.com/office/drawing/2014/main" id="{369A3F53-709F-EE93-53F6-EBBE28D4D8A2}"/>
              </a:ext>
            </a:extLst>
          </p:cNvPr>
          <p:cNvPicPr>
            <a:picLocks noChangeAspect="1"/>
          </p:cNvPicPr>
          <p:nvPr/>
        </p:nvPicPr>
        <p:blipFill>
          <a:blip r:embed="rId5"/>
          <a:stretch>
            <a:fillRect/>
          </a:stretch>
        </p:blipFill>
        <p:spPr>
          <a:xfrm>
            <a:off x="5469932" y="56312"/>
            <a:ext cx="3141885" cy="1643106"/>
          </a:xfrm>
          <a:prstGeom prst="rect">
            <a:avLst/>
          </a:prstGeom>
        </p:spPr>
      </p:pic>
      <p:pic>
        <p:nvPicPr>
          <p:cNvPr id="19" name="Picture 18">
            <a:extLst>
              <a:ext uri="{FF2B5EF4-FFF2-40B4-BE49-F238E27FC236}">
                <a16:creationId xmlns:a16="http://schemas.microsoft.com/office/drawing/2014/main" id="{0D0671A4-94F5-E852-67D1-42337F00DEED}"/>
              </a:ext>
            </a:extLst>
          </p:cNvPr>
          <p:cNvPicPr>
            <a:picLocks noChangeAspect="1"/>
          </p:cNvPicPr>
          <p:nvPr/>
        </p:nvPicPr>
        <p:blipFill>
          <a:blip r:embed="rId6"/>
          <a:stretch>
            <a:fillRect/>
          </a:stretch>
        </p:blipFill>
        <p:spPr>
          <a:xfrm>
            <a:off x="5469932" y="1818336"/>
            <a:ext cx="3040258" cy="1643106"/>
          </a:xfrm>
          <a:prstGeom prst="rect">
            <a:avLst/>
          </a:prstGeom>
        </p:spPr>
      </p:pic>
      <p:pic>
        <p:nvPicPr>
          <p:cNvPr id="21" name="Picture 20">
            <a:extLst>
              <a:ext uri="{FF2B5EF4-FFF2-40B4-BE49-F238E27FC236}">
                <a16:creationId xmlns:a16="http://schemas.microsoft.com/office/drawing/2014/main" id="{0C1713A5-072A-F43F-FFC5-C58555FCB6FF}"/>
              </a:ext>
            </a:extLst>
          </p:cNvPr>
          <p:cNvPicPr>
            <a:picLocks noChangeAspect="1"/>
          </p:cNvPicPr>
          <p:nvPr/>
        </p:nvPicPr>
        <p:blipFill>
          <a:blip r:embed="rId7"/>
          <a:stretch>
            <a:fillRect/>
          </a:stretch>
        </p:blipFill>
        <p:spPr>
          <a:xfrm>
            <a:off x="5600030" y="3534561"/>
            <a:ext cx="2780062" cy="15526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0;g3f6d2771d9a_0_2">
            <a:extLst>
              <a:ext uri="{FF2B5EF4-FFF2-40B4-BE49-F238E27FC236}">
                <a16:creationId xmlns:a16="http://schemas.microsoft.com/office/drawing/2014/main" id="{BD3E1424-0682-02EC-1961-BDDCE1FF7CEC}"/>
              </a:ext>
            </a:extLst>
          </p:cNvPr>
          <p:cNvSpPr/>
          <p:nvPr/>
        </p:nvSpPr>
        <p:spPr>
          <a:xfrm>
            <a:off x="302479" y="370051"/>
            <a:ext cx="3897900" cy="4412100"/>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 name="Google Shape;101;g3f6d2771d9a_0_2">
            <a:extLst>
              <a:ext uri="{FF2B5EF4-FFF2-40B4-BE49-F238E27FC236}">
                <a16:creationId xmlns:a16="http://schemas.microsoft.com/office/drawing/2014/main" id="{69C8410F-A39F-57B0-F819-E50D4864205F}"/>
              </a:ext>
            </a:extLst>
          </p:cNvPr>
          <p:cNvSpPr/>
          <p:nvPr/>
        </p:nvSpPr>
        <p:spPr>
          <a:xfrm>
            <a:off x="408889" y="440751"/>
            <a:ext cx="2834700" cy="228600"/>
          </a:xfrm>
          <a:prstGeom prst="rect">
            <a:avLst/>
          </a:prstGeom>
          <a:noFill/>
          <a:ln>
            <a:noFill/>
          </a:ln>
        </p:spPr>
        <p:txBody>
          <a:bodyPr spcFirstLastPara="1" wrap="square" lIns="0" tIns="0" rIns="0" bIns="0" anchor="t" anchorCtr="0">
            <a:noAutofit/>
          </a:bodyPr>
          <a:lstStyle/>
          <a:p>
            <a:pPr lvl="0">
              <a:lnSpc>
                <a:spcPct val="104000"/>
              </a:lnSpc>
            </a:pPr>
            <a:r>
              <a:rPr lang="en-US" sz="1500" b="1" dirty="0">
                <a:solidFill>
                  <a:srgbClr val="272525"/>
                </a:solidFill>
                <a:latin typeface="Petrona"/>
                <a:ea typeface="Petrona"/>
                <a:cs typeface="Petrona"/>
                <a:sym typeface="Petrona"/>
              </a:rPr>
              <a:t>5) </a:t>
            </a:r>
            <a:r>
              <a:rPr lang="en-US" sz="1500" b="1" dirty="0" err="1">
                <a:solidFill>
                  <a:srgbClr val="272525"/>
                </a:solidFill>
                <a:latin typeface="Petrona"/>
                <a:ea typeface="Petrona"/>
                <a:cs typeface="Petrona"/>
                <a:sym typeface="Petrona"/>
              </a:rPr>
              <a:t>Long</a:t>
            </a:r>
            <a:r>
              <a:rPr lang="en-US" sz="1500" b="1" dirty="0" err="1">
                <a:solidFill>
                  <a:srgbClr val="272525"/>
                </a:solidFill>
                <a:latin typeface="Petrona"/>
              </a:rPr>
              <a:t>former</a:t>
            </a:r>
            <a:endParaRPr sz="1500" b="1" dirty="0">
              <a:solidFill>
                <a:srgbClr val="272525"/>
              </a:solidFill>
              <a:latin typeface="Petrona"/>
              <a:sym typeface="Calibri"/>
            </a:endParaRPr>
          </a:p>
        </p:txBody>
      </p:sp>
      <p:sp>
        <p:nvSpPr>
          <p:cNvPr id="7" name="Google Shape;102;g3f6d2771d9a_0_2">
            <a:extLst>
              <a:ext uri="{FF2B5EF4-FFF2-40B4-BE49-F238E27FC236}">
                <a16:creationId xmlns:a16="http://schemas.microsoft.com/office/drawing/2014/main" id="{91F7728B-2560-DBC9-4B2A-8187DB210379}"/>
              </a:ext>
            </a:extLst>
          </p:cNvPr>
          <p:cNvSpPr/>
          <p:nvPr/>
        </p:nvSpPr>
        <p:spPr>
          <a:xfrm>
            <a:off x="443891" y="555051"/>
            <a:ext cx="3607500" cy="3998500"/>
          </a:xfrm>
          <a:prstGeom prst="rect">
            <a:avLst/>
          </a:prstGeom>
          <a:noFill/>
          <a:ln>
            <a:noFill/>
          </a:ln>
        </p:spPr>
        <p:txBody>
          <a:bodyPr spcFirstLastPara="1" wrap="square" lIns="0" tIns="0" rIns="0" bIns="0" anchor="t" anchorCtr="0">
            <a:noAutofit/>
          </a:bodyPr>
          <a:lstStyle/>
          <a:p>
            <a:pPr>
              <a:lnSpc>
                <a:spcPct val="115000"/>
              </a:lnSpc>
              <a:spcBef>
                <a:spcPts val="1200"/>
              </a:spcBef>
              <a:buClr>
                <a:schemeClr val="dk1"/>
              </a:buClr>
              <a:buSzPts val="1100"/>
            </a:pPr>
            <a:r>
              <a:rPr lang="en-US" sz="900" b="1" dirty="0" err="1">
                <a:solidFill>
                  <a:schemeClr val="dk1"/>
                </a:solidFill>
              </a:rPr>
              <a:t>Beltagy</a:t>
            </a:r>
            <a:r>
              <a:rPr lang="en-US" sz="900" b="1" dirty="0">
                <a:solidFill>
                  <a:schemeClr val="dk1"/>
                </a:solidFill>
              </a:rPr>
              <a:t> et al. (2020)</a:t>
            </a:r>
          </a:p>
          <a:p>
            <a:pPr lvl="0">
              <a:lnSpc>
                <a:spcPct val="115000"/>
              </a:lnSpc>
              <a:spcBef>
                <a:spcPts val="1200"/>
              </a:spcBef>
              <a:buClr>
                <a:schemeClr val="dk1"/>
              </a:buClr>
              <a:buSzPts val="1100"/>
            </a:pPr>
            <a:r>
              <a:rPr lang="en-US" sz="900" dirty="0"/>
              <a:t> </a:t>
            </a:r>
            <a:r>
              <a:rPr lang="en-US" sz="900" b="1" dirty="0">
                <a:solidFill>
                  <a:schemeClr val="dk1"/>
                </a:solidFill>
              </a:rPr>
              <a:t>CORE IDEA</a:t>
            </a:r>
            <a:endParaRPr lang="en-US" sz="900" dirty="0">
              <a:solidFill>
                <a:schemeClr val="dk1"/>
              </a:solidFill>
            </a:endParaRPr>
          </a:p>
          <a:p>
            <a:pPr marL="171450" lvl="0" indent="-171450">
              <a:buFont typeface="Courier New" panose="02070309020205020404" pitchFamily="49" charset="0"/>
              <a:buChar char="o"/>
            </a:pPr>
            <a:r>
              <a:rPr lang="en-US" sz="900" dirty="0">
                <a:solidFill>
                  <a:schemeClr val="dk1"/>
                </a:solidFill>
              </a:rPr>
              <a:t>Combines local sliding-window attention with global attention. </a:t>
            </a:r>
          </a:p>
          <a:p>
            <a:pPr marL="171450" lvl="0" indent="-171450">
              <a:buFont typeface="Courier New" panose="02070309020205020404" pitchFamily="49" charset="0"/>
              <a:buChar char="o"/>
            </a:pPr>
            <a:r>
              <a:rPr lang="en-US" sz="900" dirty="0">
                <a:solidFill>
                  <a:schemeClr val="dk1"/>
                </a:solidFill>
              </a:rPr>
              <a:t>Most tokens attend locally to nearby context. </a:t>
            </a:r>
          </a:p>
          <a:p>
            <a:pPr marL="171450" lvl="0" indent="-171450">
              <a:buFont typeface="Courier New" panose="02070309020205020404" pitchFamily="49" charset="0"/>
              <a:buChar char="o"/>
            </a:pPr>
            <a:r>
              <a:rPr lang="en-US" sz="900" dirty="0">
                <a:solidFill>
                  <a:schemeClr val="dk1"/>
                </a:solidFill>
              </a:rPr>
              <a:t>Selected tokens receive broader global attention. </a:t>
            </a:r>
          </a:p>
          <a:p>
            <a:pPr marL="171450" lvl="0" indent="-171450">
              <a:buFont typeface="Courier New" panose="02070309020205020404" pitchFamily="49" charset="0"/>
              <a:buChar char="o"/>
            </a:pPr>
            <a:r>
              <a:rPr lang="en-US" sz="900" dirty="0">
                <a:solidFill>
                  <a:schemeClr val="dk1"/>
                </a:solidFill>
              </a:rPr>
              <a:t>Reduces attention complexity to approximately: O(</a:t>
            </a:r>
            <a:r>
              <a:rPr lang="en-US" sz="900" dirty="0" err="1">
                <a:solidFill>
                  <a:schemeClr val="dk1"/>
                </a:solidFill>
              </a:rPr>
              <a:t>Nw</a:t>
            </a:r>
            <a:r>
              <a:rPr lang="en-US" sz="900" dirty="0">
                <a:solidFill>
                  <a:schemeClr val="dk1"/>
                </a:solidFill>
              </a:rPr>
              <a:t>) where w is the attention window.</a:t>
            </a:r>
          </a:p>
          <a:p>
            <a:endParaRPr lang="en-US" sz="900" dirty="0">
              <a:solidFill>
                <a:schemeClr val="dk1"/>
              </a:solidFill>
            </a:endParaRPr>
          </a:p>
          <a:p>
            <a:endParaRPr lang="en-US" sz="900" dirty="0">
              <a:solidFill>
                <a:schemeClr val="dk1"/>
              </a:solidFill>
            </a:endParaRPr>
          </a:p>
          <a:p>
            <a:pPr marL="171450" indent="-171450">
              <a:buFont typeface="Courier New" panose="02070309020205020404" pitchFamily="49" charset="0"/>
              <a:buChar char="o"/>
            </a:pPr>
            <a:endParaRPr lang="en-US" sz="900" dirty="0">
              <a:solidFill>
                <a:schemeClr val="dk1"/>
              </a:solidFill>
            </a:endParaRPr>
          </a:p>
          <a:p>
            <a:pPr marL="171450" lvl="0" indent="-171450">
              <a:buFont typeface="Courier New" panose="02070309020205020404" pitchFamily="49" charset="0"/>
              <a:buChar char="o"/>
            </a:pPr>
            <a:endParaRPr lang="en-US" sz="900" dirty="0">
              <a:solidFill>
                <a:schemeClr val="dk1"/>
              </a:solidFill>
            </a:endParaRPr>
          </a:p>
          <a:p>
            <a:pPr marL="171450" lvl="0" indent="-171450">
              <a:buFont typeface="Courier New" panose="02070309020205020404" pitchFamily="49" charset="0"/>
              <a:buChar char="o"/>
            </a:pPr>
            <a:endParaRPr lang="en-US" sz="900" dirty="0">
              <a:solidFill>
                <a:schemeClr val="dk1"/>
              </a:solidFill>
            </a:endParaRPr>
          </a:p>
          <a:p>
            <a:pPr lvl="0"/>
            <a:endParaRPr lang="en-US" sz="900" dirty="0"/>
          </a:p>
          <a:p>
            <a:pPr lvl="0"/>
            <a:endParaRPr lang="en-US" sz="900" dirty="0"/>
          </a:p>
          <a:p>
            <a:pPr lvl="0"/>
            <a:endParaRPr lang="en-US" sz="900" dirty="0"/>
          </a:p>
          <a:p>
            <a:pPr lvl="0"/>
            <a:endParaRPr lang="en-US" sz="900" dirty="0"/>
          </a:p>
          <a:p>
            <a:pPr lvl="0"/>
            <a:endParaRPr lang="en-US" sz="900" dirty="0"/>
          </a:p>
          <a:p>
            <a:pPr lvl="0"/>
            <a:endParaRPr lang="en-US" sz="900" dirty="0"/>
          </a:p>
          <a:p>
            <a:endParaRPr lang="en-US" sz="900" dirty="0"/>
          </a:p>
          <a:p>
            <a:endParaRPr lang="en-US" sz="900" dirty="0"/>
          </a:p>
          <a:p>
            <a:endParaRPr lang="en-US" sz="900" dirty="0"/>
          </a:p>
          <a:p>
            <a:endParaRPr lang="en-US" sz="900" dirty="0"/>
          </a:p>
          <a:p>
            <a:r>
              <a:rPr lang="en-US" sz="900" dirty="0"/>
              <a:t>Local attention restricts direct interaction between distant tokens, thus, may miss direct relationships between distant tokens unless information is propagated through multiple layers or connected through globally attended tokens.</a:t>
            </a:r>
          </a:p>
          <a:p>
            <a:r>
              <a:rPr lang="en-US" sz="900" dirty="0"/>
              <a:t>Global attention requires deciding which tokens receive global connectivity, making its effectiveness partly task-dependent</a:t>
            </a:r>
            <a:r>
              <a:rPr lang="en-US" sz="900" b="1" dirty="0"/>
              <a:t>.</a:t>
            </a:r>
            <a:endParaRPr lang="en-US" sz="900" dirty="0"/>
          </a:p>
          <a:p>
            <a:endParaRPr lang="en-US" sz="900" dirty="0"/>
          </a:p>
          <a:p>
            <a:endParaRPr lang="en-US" sz="900" dirty="0"/>
          </a:p>
          <a:p>
            <a:pPr lvl="0"/>
            <a:endParaRPr lang="en-US" sz="900" dirty="0"/>
          </a:p>
          <a:p>
            <a:pPr marL="0" lvl="0" indent="0" algn="l" rtl="0">
              <a:lnSpc>
                <a:spcPct val="115000"/>
              </a:lnSpc>
              <a:spcBef>
                <a:spcPts val="1200"/>
              </a:spcBef>
              <a:spcAft>
                <a:spcPts val="0"/>
              </a:spcAft>
              <a:buClr>
                <a:schemeClr val="dk1"/>
              </a:buClr>
              <a:buSzPts val="1100"/>
              <a:buFont typeface="Arial"/>
              <a:buNone/>
            </a:pPr>
            <a:endParaRPr lang="en-US" sz="9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lang="en-US" sz="900" dirty="0">
              <a:solidFill>
                <a:schemeClr val="dk1"/>
              </a:solidFill>
            </a:endParaRPr>
          </a:p>
          <a:p>
            <a:pPr marL="0" marR="0" lvl="0" indent="0" algn="l" rtl="0">
              <a:lnSpc>
                <a:spcPct val="129000"/>
              </a:lnSpc>
              <a:spcBef>
                <a:spcPts val="1200"/>
              </a:spcBef>
              <a:spcAft>
                <a:spcPts val="0"/>
              </a:spcAft>
              <a:buClr>
                <a:srgbClr val="272525"/>
              </a:buClr>
              <a:buSzPts val="1000"/>
              <a:buFont typeface="Inter"/>
              <a:buNone/>
            </a:pPr>
            <a:endParaRPr sz="900" dirty="0">
              <a:solidFill>
                <a:schemeClr val="dk1"/>
              </a:solidFill>
              <a:latin typeface="Calibri"/>
              <a:ea typeface="Calibri"/>
              <a:cs typeface="Calibri"/>
              <a:sym typeface="Calibri"/>
            </a:endParaRPr>
          </a:p>
        </p:txBody>
      </p:sp>
      <p:sp>
        <p:nvSpPr>
          <p:cNvPr id="9" name="Google Shape;103;g3f6d2771d9a_0_2">
            <a:extLst>
              <a:ext uri="{FF2B5EF4-FFF2-40B4-BE49-F238E27FC236}">
                <a16:creationId xmlns:a16="http://schemas.microsoft.com/office/drawing/2014/main" id="{FE9F40B7-CCAF-D78E-A0B0-E8585427C7B1}"/>
              </a:ext>
            </a:extLst>
          </p:cNvPr>
          <p:cNvSpPr/>
          <p:nvPr/>
        </p:nvSpPr>
        <p:spPr>
          <a:xfrm>
            <a:off x="6151290" y="1619473"/>
            <a:ext cx="2358900" cy="228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400"/>
              <a:buFont typeface="Petrona"/>
              <a:buNone/>
            </a:pPr>
            <a:endParaRPr sz="1400">
              <a:solidFill>
                <a:schemeClr val="dk1"/>
              </a:solidFill>
              <a:latin typeface="Calibri"/>
              <a:ea typeface="Calibri"/>
              <a:cs typeface="Calibri"/>
              <a:sym typeface="Calibri"/>
            </a:endParaRPr>
          </a:p>
        </p:txBody>
      </p:sp>
      <p:sp>
        <p:nvSpPr>
          <p:cNvPr id="11" name="Google Shape;100;g3f6d2771d9a_0_2">
            <a:extLst>
              <a:ext uri="{FF2B5EF4-FFF2-40B4-BE49-F238E27FC236}">
                <a16:creationId xmlns:a16="http://schemas.microsoft.com/office/drawing/2014/main" id="{1187DF24-220F-C90F-638E-64A26C62EC1F}"/>
              </a:ext>
            </a:extLst>
          </p:cNvPr>
          <p:cNvSpPr/>
          <p:nvPr/>
        </p:nvSpPr>
        <p:spPr>
          <a:xfrm>
            <a:off x="4875776" y="370051"/>
            <a:ext cx="3897900" cy="4412100"/>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01;g3f6d2771d9a_0_2">
            <a:extLst>
              <a:ext uri="{FF2B5EF4-FFF2-40B4-BE49-F238E27FC236}">
                <a16:creationId xmlns:a16="http://schemas.microsoft.com/office/drawing/2014/main" id="{CFEC8228-DFA8-9D17-67BD-1A8F86FBA7C8}"/>
              </a:ext>
            </a:extLst>
          </p:cNvPr>
          <p:cNvSpPr/>
          <p:nvPr/>
        </p:nvSpPr>
        <p:spPr>
          <a:xfrm>
            <a:off x="5017187" y="440751"/>
            <a:ext cx="3615077" cy="228600"/>
          </a:xfrm>
          <a:prstGeom prst="rect">
            <a:avLst/>
          </a:prstGeom>
          <a:noFill/>
          <a:ln>
            <a:noFill/>
          </a:ln>
        </p:spPr>
        <p:txBody>
          <a:bodyPr spcFirstLastPara="1" wrap="square" lIns="0" tIns="0" rIns="0" bIns="0" anchor="t" anchorCtr="0">
            <a:noAutofit/>
          </a:bodyPr>
          <a:lstStyle/>
          <a:p>
            <a:pPr lvl="0">
              <a:lnSpc>
                <a:spcPct val="104000"/>
              </a:lnSpc>
            </a:pPr>
            <a:r>
              <a:rPr lang="en-US" sz="1500" b="1" dirty="0">
                <a:solidFill>
                  <a:srgbClr val="272525"/>
                </a:solidFill>
                <a:latin typeface="Petrona"/>
                <a:ea typeface="Petrona"/>
                <a:cs typeface="Petrona"/>
                <a:sym typeface="Petrona"/>
              </a:rPr>
              <a:t>6) </a:t>
            </a:r>
            <a:r>
              <a:rPr lang="en-US" sz="1500" b="1" dirty="0" err="1">
                <a:solidFill>
                  <a:srgbClr val="272525"/>
                </a:solidFill>
                <a:latin typeface="Petrona"/>
                <a:ea typeface="Petrona"/>
                <a:cs typeface="Petrona"/>
                <a:sym typeface="Petrona"/>
              </a:rPr>
              <a:t>BigBird</a:t>
            </a:r>
            <a:endParaRPr sz="1500" b="1" dirty="0">
              <a:solidFill>
                <a:srgbClr val="272525"/>
              </a:solidFill>
              <a:latin typeface="Petrona"/>
              <a:sym typeface="Calibri"/>
            </a:endParaRPr>
          </a:p>
        </p:txBody>
      </p:sp>
      <mc:AlternateContent xmlns:mc="http://schemas.openxmlformats.org/markup-compatibility/2006">
        <mc:Choice xmlns:a14="http://schemas.microsoft.com/office/drawing/2010/main" Requires="a14">
          <p:sp>
            <p:nvSpPr>
              <p:cNvPr id="15" name="Google Shape;102;g3f6d2771d9a_0_2">
                <a:extLst>
                  <a:ext uri="{FF2B5EF4-FFF2-40B4-BE49-F238E27FC236}">
                    <a16:creationId xmlns:a16="http://schemas.microsoft.com/office/drawing/2014/main" id="{DD641ABD-B7C2-DCFF-E716-BDE4DED0435B}"/>
                  </a:ext>
                </a:extLst>
              </p:cNvPr>
              <p:cNvSpPr/>
              <p:nvPr/>
            </p:nvSpPr>
            <p:spPr>
              <a:xfrm>
                <a:off x="5017187" y="537673"/>
                <a:ext cx="3717924" cy="3342900"/>
              </a:xfrm>
              <a:prstGeom prst="rect">
                <a:avLst/>
              </a:prstGeom>
              <a:noFill/>
              <a:ln>
                <a:noFill/>
              </a:ln>
            </p:spPr>
            <p:txBody>
              <a:bodyPr spcFirstLastPara="1" wrap="square" lIns="0" tIns="0" rIns="0" bIns="0" anchor="t" anchorCtr="0">
                <a:noAutofit/>
              </a:bodyPr>
              <a:lstStyle/>
              <a:p>
                <a:pPr lvl="0">
                  <a:lnSpc>
                    <a:spcPct val="115000"/>
                  </a:lnSpc>
                  <a:spcBef>
                    <a:spcPts val="1200"/>
                  </a:spcBef>
                  <a:buClr>
                    <a:schemeClr val="dk1"/>
                  </a:buClr>
                  <a:buSzPts val="1100"/>
                </a:pPr>
                <a:r>
                  <a:rPr lang="en-US" sz="900" b="1" dirty="0">
                    <a:solidFill>
                      <a:schemeClr val="dk1"/>
                    </a:solidFill>
                  </a:rPr>
                  <a:t>Zaheer et al. (2020)</a:t>
                </a:r>
                <a:br>
                  <a:rPr lang="en-US" sz="900" b="1" dirty="0">
                    <a:solidFill>
                      <a:schemeClr val="dk1"/>
                    </a:solidFill>
                  </a:rPr>
                </a:br>
                <a:endParaRPr lang="en-US" sz="900" b="1" dirty="0">
                  <a:solidFill>
                    <a:schemeClr val="dk1"/>
                  </a:solidFill>
                </a:endParaRPr>
              </a:p>
              <a:p>
                <a:pPr lvl="0"/>
                <a:r>
                  <a:rPr lang="en-US" sz="900" b="1" dirty="0">
                    <a:solidFill>
                      <a:schemeClr val="dk1"/>
                    </a:solidFill>
                  </a:rPr>
                  <a:t>CORE IDEA</a:t>
                </a:r>
                <a:endParaRPr lang="en-US" sz="900" dirty="0">
                  <a:solidFill>
                    <a:schemeClr val="dk1"/>
                  </a:solidFill>
                </a:endParaRPr>
              </a:p>
              <a:p>
                <a:pPr marL="171450" indent="-171450">
                  <a:buFont typeface="Courier New" panose="02070309020205020404" pitchFamily="49" charset="0"/>
                  <a:buChar char="o"/>
                </a:pPr>
                <a:r>
                  <a:rPr lang="en-US" sz="900" dirty="0" err="1">
                    <a:solidFill>
                      <a:schemeClr val="dk1"/>
                    </a:solidFill>
                  </a:rPr>
                  <a:t>BigBird</a:t>
                </a:r>
                <a:r>
                  <a:rPr lang="en-US" sz="900" dirty="0">
                    <a:solidFill>
                      <a:schemeClr val="dk1"/>
                    </a:solidFill>
                  </a:rPr>
                  <a:t> combines different sparse attention patterns to preserve broader connectivity.</a:t>
                </a:r>
              </a:p>
              <a:p>
                <a:pPr marL="171450" indent="-171450">
                  <a:buFont typeface="Courier New" panose="02070309020205020404" pitchFamily="49" charset="0"/>
                  <a:buChar char="o"/>
                </a:pPr>
                <a:r>
                  <a:rPr lang="en-US" sz="900" dirty="0">
                    <a:solidFill>
                      <a:schemeClr val="dk1"/>
                    </a:solidFill>
                  </a:rPr>
                  <a:t>It uses: Local attention, Random attention, Global attention </a:t>
                </a:r>
              </a:p>
              <a:p>
                <a:pPr marL="171450" indent="-171450">
                  <a:buFont typeface="Courier New" panose="02070309020205020404" pitchFamily="49" charset="0"/>
                  <a:buChar char="o"/>
                </a:pPr>
                <a:r>
                  <a:rPr lang="en-US" sz="900" dirty="0">
                    <a:solidFill>
                      <a:schemeClr val="dk1"/>
                    </a:solidFill>
                  </a:rPr>
                  <a:t>This provides broader information flow while avoiding full all-to-all attention.</a:t>
                </a:r>
              </a:p>
              <a:p>
                <a:pPr marL="171450" indent="-171450">
                  <a:buFont typeface="Courier New" panose="02070309020205020404" pitchFamily="49" charset="0"/>
                  <a:buChar char="o"/>
                </a:pPr>
                <a:r>
                  <a:rPr lang="en-US" sz="900" dirty="0">
                    <a:solidFill>
                      <a:schemeClr val="dk1"/>
                    </a:solidFill>
                  </a:rPr>
                  <a:t>It results in O(</a:t>
                </a:r>
                <a:r>
                  <a:rPr lang="en-US" sz="900" dirty="0" err="1">
                    <a:solidFill>
                      <a:schemeClr val="dk1"/>
                    </a:solidFill>
                  </a:rPr>
                  <a:t>kN</a:t>
                </a:r>
                <a:r>
                  <a:rPr lang="en-US" sz="900" dirty="0">
                    <a:solidFill>
                      <a:schemeClr val="dk1"/>
                    </a:solidFill>
                  </a:rPr>
                  <a:t>) </a:t>
                </a:r>
                <a14:m>
                  <m:oMath xmlns:m="http://schemas.openxmlformats.org/officeDocument/2006/math">
                    <m:r>
                      <a:rPr lang="en-US" sz="900" i="1" smtClean="0">
                        <a:solidFill>
                          <a:schemeClr val="dk1"/>
                        </a:solidFill>
                        <a:latin typeface="Cambria Math" panose="02040503050406030204" pitchFamily="18" charset="0"/>
                        <a:ea typeface="Cambria Math" panose="02040503050406030204" pitchFamily="18" charset="0"/>
                      </a:rPr>
                      <m:t>→</m:t>
                    </m:r>
                  </m:oMath>
                </a14:m>
                <a:r>
                  <a:rPr lang="en-US" sz="900" dirty="0">
                    <a:solidFill>
                      <a:schemeClr val="dk1"/>
                    </a:solidFill>
                  </a:rPr>
                  <a:t> O(N) (for fixed sparse connectivity, that is fixed k)</a:t>
                </a:r>
              </a:p>
              <a:p>
                <a:pPr marL="171450" indent="-171450">
                  <a:buFont typeface="Courier New" panose="02070309020205020404" pitchFamily="49" charset="0"/>
                  <a:buChar char="o"/>
                </a:pPr>
                <a:endParaRPr lang="en-US" sz="900" dirty="0">
                  <a:solidFill>
                    <a:schemeClr val="dk1"/>
                  </a:solidFill>
                </a:endParaRPr>
              </a:p>
              <a:p>
                <a:pPr marL="171450" indent="-171450">
                  <a:buFont typeface="Courier New" panose="02070309020205020404" pitchFamily="49" charset="0"/>
                  <a:buChar char="o"/>
                </a:pPr>
                <a:endParaRPr lang="en-US" sz="900" dirty="0">
                  <a:solidFill>
                    <a:schemeClr val="dk1"/>
                  </a:solidFill>
                </a:endParaRPr>
              </a:p>
              <a:p>
                <a:pPr marL="171450" indent="-171450">
                  <a:buFont typeface="Courier New" panose="02070309020205020404" pitchFamily="49" charset="0"/>
                  <a:buChar char="o"/>
                </a:pPr>
                <a:endParaRPr lang="en-US" sz="900" dirty="0">
                  <a:solidFill>
                    <a:schemeClr val="dk1"/>
                  </a:solidFill>
                </a:endParaRPr>
              </a:p>
              <a:p>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pPr marL="171450" indent="-171450">
                  <a:buFont typeface="Courier New" panose="02070309020205020404" pitchFamily="49" charset="0"/>
                  <a:buChar char="o"/>
                </a:pPr>
                <a:endParaRPr lang="en-US" sz="900" dirty="0"/>
              </a:p>
              <a:p>
                <a:endParaRPr lang="en-US" sz="900" dirty="0"/>
              </a:p>
              <a:p>
                <a:r>
                  <a:rPr lang="en-US" sz="900" dirty="0"/>
                  <a:t>Its local, random, and global sparse pattern improves long-range connectivity but still does not provide full all-to-all token interaction and does not explicitly model document structure. The model therefore depends on the chosen local window, random connections, and global tokens.</a:t>
                </a:r>
              </a:p>
              <a:p>
                <a:endParaRPr lang="en-US" sz="900" dirty="0"/>
              </a:p>
              <a:p>
                <a:endParaRPr lang="en-US" sz="900" dirty="0"/>
              </a:p>
              <a:p>
                <a:endParaRPr lang="ar-AE" sz="900" dirty="0"/>
              </a:p>
              <a:p>
                <a:r>
                  <a:rPr lang="ar-AE" sz="900" dirty="0">
                    <a:solidFill>
                      <a:schemeClr val="dk1"/>
                    </a:solidFill>
                  </a:rPr>
                  <a:t> </a:t>
                </a:r>
              </a:p>
              <a:p>
                <a:pPr lvl="0"/>
                <a:endParaRPr lang="ar-AE" sz="9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lang="ar-AE" sz="9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lang="ar-AE" sz="900" dirty="0">
                  <a:solidFill>
                    <a:schemeClr val="dk1"/>
                  </a:solidFill>
                </a:endParaRPr>
              </a:p>
              <a:p>
                <a:pPr marL="0" marR="0" lvl="0" indent="0" algn="l" rtl="0">
                  <a:lnSpc>
                    <a:spcPct val="129000"/>
                  </a:lnSpc>
                  <a:spcBef>
                    <a:spcPts val="1200"/>
                  </a:spcBef>
                  <a:spcAft>
                    <a:spcPts val="0"/>
                  </a:spcAft>
                  <a:buClr>
                    <a:srgbClr val="272525"/>
                  </a:buClr>
                  <a:buSzPts val="1000"/>
                  <a:buFont typeface="Inter"/>
                  <a:buNone/>
                </a:pPr>
                <a:endParaRPr sz="900" dirty="0">
                  <a:solidFill>
                    <a:schemeClr val="dk1"/>
                  </a:solidFill>
                  <a:latin typeface="Calibri"/>
                  <a:ea typeface="Calibri"/>
                  <a:cs typeface="Calibri"/>
                  <a:sym typeface="Calibri"/>
                </a:endParaRPr>
              </a:p>
            </p:txBody>
          </p:sp>
        </mc:Choice>
        <mc:Fallback>
          <p:sp>
            <p:nvSpPr>
              <p:cNvPr id="15" name="Google Shape;102;g3f6d2771d9a_0_2">
                <a:extLst>
                  <a:ext uri="{FF2B5EF4-FFF2-40B4-BE49-F238E27FC236}">
                    <a16:creationId xmlns:a16="http://schemas.microsoft.com/office/drawing/2014/main" id="{DD641ABD-B7C2-DCFF-E716-BDE4DED0435B}"/>
                  </a:ext>
                </a:extLst>
              </p:cNvPr>
              <p:cNvSpPr>
                <a:spLocks noRot="1" noChangeAspect="1" noMove="1" noResize="1" noEditPoints="1" noAdjustHandles="1" noChangeArrowheads="1" noChangeShapeType="1" noTextEdit="1"/>
              </p:cNvSpPr>
              <p:nvPr/>
            </p:nvSpPr>
            <p:spPr>
              <a:xfrm>
                <a:off x="5017187" y="537673"/>
                <a:ext cx="3717924" cy="3342900"/>
              </a:xfrm>
              <a:prstGeom prst="rect">
                <a:avLst/>
              </a:prstGeom>
              <a:blipFill>
                <a:blip r:embed="rId2"/>
                <a:stretch>
                  <a:fillRect l="-2131" r="-1803" b="-43169"/>
                </a:stretch>
              </a:blipFill>
              <a:ln>
                <a:noFill/>
              </a:ln>
            </p:spPr>
            <p:txBody>
              <a:bodyPr/>
              <a:lstStyle/>
              <a:p>
                <a:r>
                  <a:rPr lang="en-US">
                    <a:noFill/>
                  </a:rPr>
                  <a:t> </a:t>
                </a:r>
              </a:p>
            </p:txBody>
          </p:sp>
        </mc:Fallback>
      </mc:AlternateContent>
      <p:pic>
        <p:nvPicPr>
          <p:cNvPr id="17" name="Picture 16">
            <a:extLst>
              <a:ext uri="{FF2B5EF4-FFF2-40B4-BE49-F238E27FC236}">
                <a16:creationId xmlns:a16="http://schemas.microsoft.com/office/drawing/2014/main" id="{4F0737EA-25D3-C45A-EC5D-1661A081B550}"/>
              </a:ext>
            </a:extLst>
          </p:cNvPr>
          <p:cNvPicPr>
            <a:picLocks noChangeAspect="1"/>
          </p:cNvPicPr>
          <p:nvPr/>
        </p:nvPicPr>
        <p:blipFill>
          <a:blip r:embed="rId3"/>
          <a:stretch>
            <a:fillRect/>
          </a:stretch>
        </p:blipFill>
        <p:spPr>
          <a:xfrm>
            <a:off x="408889" y="1956713"/>
            <a:ext cx="3638713" cy="1941238"/>
          </a:xfrm>
          <a:prstGeom prst="rect">
            <a:avLst/>
          </a:prstGeom>
        </p:spPr>
      </p:pic>
      <p:pic>
        <p:nvPicPr>
          <p:cNvPr id="19" name="Picture 18">
            <a:extLst>
              <a:ext uri="{FF2B5EF4-FFF2-40B4-BE49-F238E27FC236}">
                <a16:creationId xmlns:a16="http://schemas.microsoft.com/office/drawing/2014/main" id="{88B53815-E5FB-3373-13F2-B081A7EABB35}"/>
              </a:ext>
            </a:extLst>
          </p:cNvPr>
          <p:cNvPicPr>
            <a:picLocks noChangeAspect="1"/>
          </p:cNvPicPr>
          <p:nvPr/>
        </p:nvPicPr>
        <p:blipFill>
          <a:blip r:embed="rId4"/>
          <a:stretch>
            <a:fillRect/>
          </a:stretch>
        </p:blipFill>
        <p:spPr>
          <a:xfrm>
            <a:off x="4963629" y="1990459"/>
            <a:ext cx="3722191" cy="2027535"/>
          </a:xfrm>
          <a:prstGeom prst="rect">
            <a:avLst/>
          </a:prstGeom>
        </p:spPr>
      </p:pic>
    </p:spTree>
    <p:extLst>
      <p:ext uri="{BB962C8B-B14F-4D97-AF65-F5344CB8AC3E}">
        <p14:creationId xmlns:p14="http://schemas.microsoft.com/office/powerpoint/2010/main" val="4063889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C99FF">
            <a:alpha val="33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DA9D01-7B9A-799A-730F-68AF891C32CC}"/>
              </a:ext>
            </a:extLst>
          </p:cNvPr>
          <p:cNvPicPr>
            <a:picLocks noChangeAspect="1"/>
          </p:cNvPicPr>
          <p:nvPr/>
        </p:nvPicPr>
        <p:blipFill>
          <a:blip r:embed="rId2"/>
          <a:stretch>
            <a:fillRect/>
          </a:stretch>
        </p:blipFill>
        <p:spPr>
          <a:xfrm>
            <a:off x="482600" y="1000581"/>
            <a:ext cx="8178799" cy="3864481"/>
          </a:xfrm>
          <a:prstGeom prst="rect">
            <a:avLst/>
          </a:prstGeom>
          <a:ln>
            <a:noFill/>
          </a:ln>
        </p:spPr>
      </p:pic>
      <p:sp>
        <p:nvSpPr>
          <p:cNvPr id="5" name="Google Shape;123;g3f6d2771d9a_0_45">
            <a:extLst>
              <a:ext uri="{FF2B5EF4-FFF2-40B4-BE49-F238E27FC236}">
                <a16:creationId xmlns:a16="http://schemas.microsoft.com/office/drawing/2014/main" id="{13B5B72D-D04E-A6EB-2EE1-860BBC1FE939}"/>
              </a:ext>
            </a:extLst>
          </p:cNvPr>
          <p:cNvSpPr txBox="1"/>
          <p:nvPr/>
        </p:nvSpPr>
        <p:spPr>
          <a:xfrm>
            <a:off x="988999" y="421107"/>
            <a:ext cx="7383531"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Comparison of Long Context Architectures in Existing Research</a:t>
            </a:r>
            <a:endParaRPr sz="1800" b="1" dirty="0"/>
          </a:p>
        </p:txBody>
      </p:sp>
    </p:spTree>
    <p:extLst>
      <p:ext uri="{BB962C8B-B14F-4D97-AF65-F5344CB8AC3E}">
        <p14:creationId xmlns:p14="http://schemas.microsoft.com/office/powerpoint/2010/main" val="44264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9;p4">
            <a:extLst>
              <a:ext uri="{FF2B5EF4-FFF2-40B4-BE49-F238E27FC236}">
                <a16:creationId xmlns:a16="http://schemas.microsoft.com/office/drawing/2014/main" id="{65E3539B-AC1C-C9BF-45DE-8E8B2A7F9B32}"/>
              </a:ext>
            </a:extLst>
          </p:cNvPr>
          <p:cNvSpPr/>
          <p:nvPr/>
        </p:nvSpPr>
        <p:spPr>
          <a:xfrm>
            <a:off x="496119" y="429667"/>
            <a:ext cx="8151763" cy="45690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2850"/>
              <a:buFont typeface="Petrona"/>
              <a:buNone/>
            </a:pPr>
            <a:endParaRPr sz="2850" dirty="0">
              <a:solidFill>
                <a:schemeClr val="dk1"/>
              </a:solidFill>
              <a:latin typeface="Calibri"/>
              <a:ea typeface="Calibri"/>
              <a:cs typeface="Calibri"/>
              <a:sym typeface="Calibri"/>
            </a:endParaRPr>
          </a:p>
        </p:txBody>
      </p:sp>
      <p:sp>
        <p:nvSpPr>
          <p:cNvPr id="5" name="Google Shape;60;p4">
            <a:extLst>
              <a:ext uri="{FF2B5EF4-FFF2-40B4-BE49-F238E27FC236}">
                <a16:creationId xmlns:a16="http://schemas.microsoft.com/office/drawing/2014/main" id="{7D1ABCCB-10A7-DBAF-4267-16D23109F105}"/>
              </a:ext>
            </a:extLst>
          </p:cNvPr>
          <p:cNvSpPr/>
          <p:nvPr/>
        </p:nvSpPr>
        <p:spPr>
          <a:xfrm>
            <a:off x="483816" y="375744"/>
            <a:ext cx="8608963" cy="205978"/>
          </a:xfrm>
          <a:prstGeom prst="rect">
            <a:avLst/>
          </a:prstGeom>
          <a:noFill/>
          <a:ln>
            <a:noFill/>
          </a:ln>
        </p:spPr>
        <p:txBody>
          <a:bodyPr spcFirstLastPara="1" wrap="square" lIns="0" tIns="0" rIns="0" bIns="0" anchor="t" anchorCtr="0">
            <a:noAutofit/>
          </a:bodyPr>
          <a:lstStyle/>
          <a:p>
            <a:pPr lvl="0">
              <a:lnSpc>
                <a:spcPct val="129000"/>
              </a:lnSpc>
              <a:buClr>
                <a:srgbClr val="272525"/>
              </a:buClr>
              <a:buSzPts val="1000"/>
            </a:pPr>
            <a:r>
              <a:rPr lang="en-US" sz="1000" b="1" dirty="0">
                <a:solidFill>
                  <a:srgbClr val="272525"/>
                </a:solidFill>
                <a:latin typeface="Inter"/>
                <a:ea typeface="Inter"/>
              </a:rPr>
              <a:t>While the above approaches address the scalability of Transformer-based sequence processing, document intelligence introduces an additional challenge: documents are not merely long sequences of tokens. They contain visual, spatial, and multi-page information that must also be preserved</a:t>
            </a:r>
            <a:r>
              <a:rPr lang="en-US" sz="1000" b="1" dirty="0">
                <a:solidFill>
                  <a:srgbClr val="272525"/>
                </a:solidFill>
                <a:latin typeface="Inter"/>
                <a:ea typeface="Inter"/>
                <a:sym typeface="Inter"/>
              </a:rPr>
              <a:t>.</a:t>
            </a:r>
            <a:endParaRPr sz="1000" b="1" dirty="0">
              <a:solidFill>
                <a:srgbClr val="272525"/>
              </a:solidFill>
              <a:latin typeface="Inter"/>
              <a:ea typeface="Inter"/>
              <a:sym typeface="Calibri"/>
            </a:endParaRPr>
          </a:p>
        </p:txBody>
      </p:sp>
      <p:sp>
        <p:nvSpPr>
          <p:cNvPr id="7" name="Google Shape;61;p4">
            <a:extLst>
              <a:ext uri="{FF2B5EF4-FFF2-40B4-BE49-F238E27FC236}">
                <a16:creationId xmlns:a16="http://schemas.microsoft.com/office/drawing/2014/main" id="{9C1774B9-D25A-22F1-2A3C-9E3A0AD14869}"/>
              </a:ext>
            </a:extLst>
          </p:cNvPr>
          <p:cNvSpPr/>
          <p:nvPr/>
        </p:nvSpPr>
        <p:spPr>
          <a:xfrm>
            <a:off x="459248" y="1423367"/>
            <a:ext cx="5443765" cy="3290466"/>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62;p4">
            <a:extLst>
              <a:ext uri="{FF2B5EF4-FFF2-40B4-BE49-F238E27FC236}">
                <a16:creationId xmlns:a16="http://schemas.microsoft.com/office/drawing/2014/main" id="{B638D6F7-0847-8A48-92CE-D56B3FCCE7ED}"/>
              </a:ext>
            </a:extLst>
          </p:cNvPr>
          <p:cNvSpPr/>
          <p:nvPr/>
        </p:nvSpPr>
        <p:spPr>
          <a:xfrm>
            <a:off x="633859" y="1562170"/>
            <a:ext cx="2358851" cy="22845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400"/>
              <a:buFont typeface="Petrona"/>
              <a:buNone/>
            </a:pPr>
            <a:r>
              <a:rPr lang="en-US" b="1" dirty="0">
                <a:solidFill>
                  <a:srgbClr val="272525"/>
                </a:solidFill>
                <a:latin typeface="Petrona"/>
                <a:ea typeface="Calibri"/>
                <a:cs typeface="Calibri"/>
                <a:sym typeface="Petrona"/>
              </a:rPr>
              <a:t>Main Idea</a:t>
            </a:r>
            <a:endParaRPr sz="1400" dirty="0">
              <a:solidFill>
                <a:schemeClr val="dk1"/>
              </a:solidFill>
              <a:latin typeface="Calibri"/>
              <a:ea typeface="Calibri"/>
              <a:cs typeface="Calibri"/>
              <a:sym typeface="Calibri"/>
            </a:endParaRPr>
          </a:p>
        </p:txBody>
      </p:sp>
      <p:sp>
        <p:nvSpPr>
          <p:cNvPr id="11" name="Google Shape;67;p4">
            <a:extLst>
              <a:ext uri="{FF2B5EF4-FFF2-40B4-BE49-F238E27FC236}">
                <a16:creationId xmlns:a16="http://schemas.microsoft.com/office/drawing/2014/main" id="{C30F5616-CCEA-8E0E-0C6F-F18B36C6A8D2}"/>
              </a:ext>
            </a:extLst>
          </p:cNvPr>
          <p:cNvSpPr/>
          <p:nvPr/>
        </p:nvSpPr>
        <p:spPr>
          <a:xfrm>
            <a:off x="6013624" y="1481806"/>
            <a:ext cx="2634183" cy="3232027"/>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lvl="0" algn="ctr"/>
            <a:r>
              <a:rPr lang="en-US" sz="1800" dirty="0">
                <a:solidFill>
                  <a:schemeClr val="dk1"/>
                </a:solidFill>
                <a:latin typeface="Calibri"/>
                <a:ea typeface="Calibri"/>
                <a:cs typeface="Calibri"/>
                <a:sym typeface="Calibri"/>
              </a:rPr>
              <a:t> </a:t>
            </a:r>
            <a:r>
              <a:rPr lang="en-US" sz="700" dirty="0">
                <a:solidFill>
                  <a:schemeClr val="dk1"/>
                </a:solidFill>
                <a:latin typeface="Calibri"/>
                <a:ea typeface="Calibri"/>
                <a:cs typeface="Calibri"/>
                <a:sym typeface="Calibri"/>
              </a:rPr>
              <a:t>Long / Multi-page Document</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Document Images</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Visual Encoder</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Compress the visual information</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Visual Tokens</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R-SWA Decoder Attention</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 Original visual       │</a:t>
            </a:r>
          </a:p>
          <a:p>
            <a:pPr lvl="0" algn="ctr"/>
            <a:r>
              <a:rPr lang="en-US" sz="700" dirty="0">
                <a:solidFill>
                  <a:schemeClr val="dk1"/>
                </a:solidFill>
                <a:latin typeface="Calibri"/>
                <a:ea typeface="Calibri"/>
                <a:cs typeface="Calibri"/>
                <a:sym typeface="Calibri"/>
              </a:rPr>
              <a:t>       │ document information  │</a:t>
            </a:r>
          </a:p>
          <a:p>
            <a:pPr lvl="0" algn="ctr"/>
            <a:r>
              <a:rPr lang="en-US" sz="700" dirty="0">
                <a:solidFill>
                  <a:schemeClr val="dk1"/>
                </a:solidFill>
                <a:latin typeface="Calibri"/>
                <a:ea typeface="Calibri"/>
                <a:cs typeface="Calibri"/>
                <a:sym typeface="Calibri"/>
              </a:rPr>
              <a:t>       │          +            │</a:t>
            </a:r>
          </a:p>
          <a:p>
            <a:pPr lvl="0" algn="ctr"/>
            <a:r>
              <a:rPr lang="en-US" sz="700" dirty="0">
                <a:solidFill>
                  <a:schemeClr val="dk1"/>
                </a:solidFill>
                <a:latin typeface="Calibri"/>
                <a:ea typeface="Calibri"/>
                <a:cs typeface="Calibri"/>
                <a:sym typeface="Calibri"/>
              </a:rPr>
              <a:t>       │ Recent generated text │</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Generate OCR text</a:t>
            </a:r>
          </a:p>
          <a:p>
            <a:pPr lvl="0" algn="ctr"/>
            <a:r>
              <a:rPr lang="en-US" sz="700" dirty="0">
                <a:solidFill>
                  <a:schemeClr val="dk1"/>
                </a:solidFill>
                <a:latin typeface="Calibri"/>
                <a:ea typeface="Calibri"/>
                <a:cs typeface="Calibri"/>
                <a:sym typeface="Calibri"/>
              </a:rPr>
              <a:t>        one token at a time</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Continue across pages</a:t>
            </a:r>
          </a:p>
          <a:p>
            <a:pPr lvl="0" algn="ctr"/>
            <a:r>
              <a:rPr lang="en-US" sz="700" dirty="0">
                <a:solidFill>
                  <a:schemeClr val="dk1"/>
                </a:solidFill>
                <a:latin typeface="Calibri"/>
                <a:ea typeface="Calibri"/>
                <a:cs typeface="Calibri"/>
                <a:sym typeface="Calibri"/>
              </a:rPr>
              <a:t>                  ↓</a:t>
            </a:r>
          </a:p>
          <a:p>
            <a:pPr lvl="0" algn="ctr"/>
            <a:r>
              <a:rPr lang="en-US" sz="700" dirty="0">
                <a:solidFill>
                  <a:schemeClr val="dk1"/>
                </a:solidFill>
                <a:latin typeface="Calibri"/>
                <a:ea typeface="Calibri"/>
                <a:cs typeface="Calibri"/>
                <a:sym typeface="Calibri"/>
              </a:rPr>
              <a:t>       Extracted document text</a:t>
            </a:r>
          </a:p>
          <a:p>
            <a:pPr lvl="0" algn="ctr"/>
            <a:r>
              <a:rPr lang="en-US" sz="700" dirty="0">
                <a:solidFill>
                  <a:schemeClr val="dk1"/>
                </a:solidFill>
                <a:latin typeface="Calibri"/>
                <a:ea typeface="Calibri"/>
                <a:cs typeface="Calibri"/>
                <a:sym typeface="Calibri"/>
              </a:rPr>
              <a:t>       + useful visual/location</a:t>
            </a:r>
          </a:p>
          <a:p>
            <a:pPr lvl="0" algn="ctr"/>
            <a:r>
              <a:rPr lang="en-US" sz="700" dirty="0">
                <a:solidFill>
                  <a:schemeClr val="dk1"/>
                </a:solidFill>
                <a:latin typeface="Calibri"/>
                <a:ea typeface="Calibri"/>
                <a:cs typeface="Calibri"/>
                <a:sym typeface="Calibri"/>
              </a:rPr>
              <a:t>          information</a:t>
            </a:r>
            <a:endParaRPr sz="700" dirty="0">
              <a:solidFill>
                <a:schemeClr val="dk1"/>
              </a:solidFill>
              <a:latin typeface="Calibri"/>
              <a:ea typeface="Calibri"/>
              <a:cs typeface="Calibri"/>
              <a:sym typeface="Calibri"/>
            </a:endParaRPr>
          </a:p>
        </p:txBody>
      </p:sp>
      <p:sp>
        <p:nvSpPr>
          <p:cNvPr id="13" name="TextBox 12">
            <a:extLst>
              <a:ext uri="{FF2B5EF4-FFF2-40B4-BE49-F238E27FC236}">
                <a16:creationId xmlns:a16="http://schemas.microsoft.com/office/drawing/2014/main" id="{D6F55207-6CB6-6341-C279-1A0DF4BC9BD7}"/>
              </a:ext>
            </a:extLst>
          </p:cNvPr>
          <p:cNvSpPr txBox="1"/>
          <p:nvPr/>
        </p:nvSpPr>
        <p:spPr>
          <a:xfrm>
            <a:off x="496119" y="2036509"/>
            <a:ext cx="5379839" cy="2431435"/>
          </a:xfrm>
          <a:prstGeom prst="rect">
            <a:avLst/>
          </a:prstGeom>
          <a:noFill/>
        </p:spPr>
        <p:txBody>
          <a:bodyPr wrap="square">
            <a:spAutoFit/>
          </a:bodyPr>
          <a:lstStyle/>
          <a:p>
            <a:pPr lvl="0"/>
            <a:r>
              <a:rPr lang="en-US" sz="1000" dirty="0">
                <a:solidFill>
                  <a:srgbClr val="272525"/>
                </a:solidFill>
                <a:latin typeface="Inter"/>
                <a:ea typeface="Inter"/>
              </a:rPr>
              <a:t>Extends long-context modeling specifically to OCR and document processing.</a:t>
            </a:r>
          </a:p>
          <a:p>
            <a:r>
              <a:rPr lang="en-US" sz="700" dirty="0"/>
              <a:t>Meaning, all previous model architectures ask "How can we process longer sequences efficiently?“ where as Unlimited OCR asks a more specific question:</a:t>
            </a:r>
          </a:p>
          <a:p>
            <a:r>
              <a:rPr lang="en-US" sz="700" dirty="0"/>
              <a:t>"How can an OCR model continuously read a very long visual document without its decoding memory growing with the amount of text generated?"</a:t>
            </a:r>
          </a:p>
          <a:p>
            <a:r>
              <a:rPr lang="en-US" sz="700" dirty="0"/>
              <a:t>So it takes the long-context idea and applies it to a vision-language/OCR generation problem.</a:t>
            </a:r>
          </a:p>
          <a:p>
            <a:r>
              <a:rPr lang="en-US" sz="700" dirty="0" err="1"/>
              <a:t>Longformer</a:t>
            </a:r>
            <a:r>
              <a:rPr lang="en-US" sz="700" dirty="0"/>
              <a:t> and </a:t>
            </a:r>
            <a:r>
              <a:rPr lang="en-US" sz="700" dirty="0" err="1"/>
              <a:t>BigBird</a:t>
            </a:r>
            <a:r>
              <a:rPr lang="en-US" sz="700" dirty="0"/>
              <a:t> mainly deal with very long text. Unlimited OCR applies the idea to very long document images, where the model first has to read the document and produce the text.</a:t>
            </a:r>
          </a:p>
          <a:p>
            <a:pPr lvl="0"/>
            <a:r>
              <a:rPr lang="en-US" sz="700" dirty="0"/>
              <a:t> </a:t>
            </a:r>
          </a:p>
          <a:p>
            <a:pPr lvl="0"/>
            <a:r>
              <a:rPr lang="en-US" sz="1000" dirty="0">
                <a:solidFill>
                  <a:srgbClr val="272525"/>
                </a:solidFill>
                <a:latin typeface="Inter"/>
                <a:ea typeface="Inter"/>
              </a:rPr>
              <a:t>Uses Reference Sliding Window Attention (R-SWA) for long-horizon processing. </a:t>
            </a:r>
          </a:p>
          <a:p>
            <a:pPr lvl="0"/>
            <a:r>
              <a:rPr lang="en-US" sz="700" dirty="0"/>
              <a:t>R-SWA lets the model keep the original document information available while keeping only a small amount of recently generated text. This prevents the memory requirement from continuously increasing as more pages are read.</a:t>
            </a:r>
          </a:p>
          <a:p>
            <a:pPr lvl="0"/>
            <a:endParaRPr lang="en-US" sz="700" dirty="0">
              <a:solidFill>
                <a:srgbClr val="272525"/>
              </a:solidFill>
              <a:latin typeface="Inter"/>
              <a:ea typeface="Inter"/>
            </a:endParaRPr>
          </a:p>
          <a:p>
            <a:pPr lvl="0"/>
            <a:r>
              <a:rPr lang="en-US" sz="1000" dirty="0">
                <a:solidFill>
                  <a:srgbClr val="272525"/>
                </a:solidFill>
                <a:latin typeface="Inter"/>
                <a:ea typeface="Inter"/>
              </a:rPr>
              <a:t>Enables multi-page document transcription within a long-context framework. </a:t>
            </a:r>
          </a:p>
          <a:p>
            <a:pPr lvl="0"/>
            <a:r>
              <a:rPr lang="en-US" sz="700" dirty="0"/>
              <a:t>Instead of treating every page as a completely separate OCR task, the model can continue reading through multiple pages while maintaining access to the document information.</a:t>
            </a:r>
          </a:p>
          <a:p>
            <a:pPr lvl="0"/>
            <a:endParaRPr lang="en-US" sz="700" dirty="0"/>
          </a:p>
          <a:p>
            <a:pPr lvl="0"/>
            <a:r>
              <a:rPr lang="en-US" sz="1000" dirty="0">
                <a:solidFill>
                  <a:srgbClr val="272525"/>
                </a:solidFill>
                <a:latin typeface="Inter"/>
                <a:ea typeface="Inter"/>
              </a:rPr>
              <a:t>Retains textual and spatial information needed for document understanding.</a:t>
            </a:r>
            <a:br>
              <a:rPr lang="en-US" sz="1000" dirty="0">
                <a:solidFill>
                  <a:srgbClr val="272525"/>
                </a:solidFill>
                <a:latin typeface="Inter"/>
                <a:ea typeface="Inter"/>
              </a:rPr>
            </a:br>
            <a:r>
              <a:rPr lang="en-US" sz="700" dirty="0"/>
              <a:t>Because the model can continue referring to the original document information while generating text, it can use not only the words but also where and how those words appear on the page.</a:t>
            </a:r>
          </a:p>
        </p:txBody>
      </p:sp>
      <p:sp>
        <p:nvSpPr>
          <p:cNvPr id="15" name="Google Shape;41;p3">
            <a:extLst>
              <a:ext uri="{FF2B5EF4-FFF2-40B4-BE49-F238E27FC236}">
                <a16:creationId xmlns:a16="http://schemas.microsoft.com/office/drawing/2014/main" id="{A0F1F9CC-3749-191A-7454-FD73F4E97EE7}"/>
              </a:ext>
            </a:extLst>
          </p:cNvPr>
          <p:cNvSpPr/>
          <p:nvPr/>
        </p:nvSpPr>
        <p:spPr>
          <a:xfrm>
            <a:off x="1950951" y="1012229"/>
            <a:ext cx="4442416" cy="411138"/>
          </a:xfrm>
          <a:prstGeom prst="rect">
            <a:avLst/>
          </a:prstGeom>
          <a:noFill/>
          <a:ln>
            <a:noFill/>
          </a:ln>
        </p:spPr>
        <p:txBody>
          <a:bodyPr spcFirstLastPara="1" wrap="square" lIns="0" tIns="0" rIns="0" bIns="0" anchor="t" anchorCtr="0">
            <a:noAutofit/>
          </a:bodyPr>
          <a:lstStyle/>
          <a:p>
            <a:pPr lvl="0">
              <a:lnSpc>
                <a:spcPct val="104000"/>
              </a:lnSpc>
              <a:buClr>
                <a:srgbClr val="F95F88"/>
              </a:buClr>
              <a:buSzPts val="2550"/>
            </a:pPr>
            <a:r>
              <a:rPr lang="en-US" sz="2550" b="1" dirty="0">
                <a:solidFill>
                  <a:sysClr val="windowText" lastClr="000000"/>
                </a:solidFill>
                <a:latin typeface="Petrona"/>
                <a:ea typeface="Calibri"/>
                <a:cs typeface="Calibri"/>
                <a:sym typeface="Petrona"/>
              </a:rPr>
              <a:t>Unlimited OCR - </a:t>
            </a:r>
            <a:r>
              <a:rPr lang="en-US" sz="2000" dirty="0">
                <a:solidFill>
                  <a:sysClr val="windowText" lastClr="000000"/>
                </a:solidFill>
                <a:latin typeface="Petrona"/>
                <a:ea typeface="Calibri"/>
                <a:cs typeface="Calibri"/>
              </a:rPr>
              <a:t>Yin et al. (2026)</a:t>
            </a:r>
            <a:endParaRPr sz="2550" dirty="0">
              <a:solidFill>
                <a:sysClr val="windowText" lastClr="000000"/>
              </a:solidFill>
              <a:latin typeface="Petrona"/>
              <a:ea typeface="Calibri"/>
              <a:cs typeface="Calibri"/>
              <a:sym typeface="Calibri"/>
            </a:endParaRPr>
          </a:p>
        </p:txBody>
      </p:sp>
    </p:spTree>
    <p:extLst>
      <p:ext uri="{BB962C8B-B14F-4D97-AF65-F5344CB8AC3E}">
        <p14:creationId xmlns:p14="http://schemas.microsoft.com/office/powerpoint/2010/main" val="3457221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3f6d2771d9a_0_2"/>
          <p:cNvSpPr/>
          <p:nvPr/>
        </p:nvSpPr>
        <p:spPr>
          <a:xfrm>
            <a:off x="370325" y="-251625"/>
            <a:ext cx="4230300" cy="508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2850"/>
              <a:buFont typeface="Petrona"/>
              <a:buNone/>
            </a:pPr>
            <a:br>
              <a:rPr lang="en-US" sz="3150" b="1" i="0" u="none" strike="noStrike" cap="none">
                <a:solidFill>
                  <a:srgbClr val="F95F88"/>
                </a:solidFill>
                <a:latin typeface="Petrona"/>
                <a:ea typeface="Petrona"/>
                <a:cs typeface="Petrona"/>
                <a:sym typeface="Petrona"/>
              </a:rPr>
            </a:br>
            <a:r>
              <a:rPr lang="en-US" sz="1700" b="1" i="0" u="none" strike="noStrike" cap="none">
                <a:solidFill>
                  <a:srgbClr val="F95F88"/>
                </a:solidFill>
                <a:latin typeface="Petrona"/>
                <a:ea typeface="Petrona"/>
                <a:cs typeface="Petrona"/>
                <a:sym typeface="Petrona"/>
              </a:rPr>
              <a:t>2.2 Explainability and Feature Attribution</a:t>
            </a:r>
            <a:endParaRPr sz="1700" b="1" i="0" u="none" strike="noStrike" cap="none">
              <a:solidFill>
                <a:srgbClr val="F95F88"/>
              </a:solidFill>
              <a:latin typeface="Petrona"/>
              <a:ea typeface="Petrona"/>
              <a:cs typeface="Petrona"/>
              <a:sym typeface="Petrona"/>
            </a:endParaRPr>
          </a:p>
          <a:p>
            <a:pPr marL="0" marR="0" lvl="0" indent="0" algn="l" rtl="0">
              <a:lnSpc>
                <a:spcPct val="104000"/>
              </a:lnSpc>
              <a:spcBef>
                <a:spcPts val="0"/>
              </a:spcBef>
              <a:spcAft>
                <a:spcPts val="0"/>
              </a:spcAft>
              <a:buClr>
                <a:srgbClr val="F95F88"/>
              </a:buClr>
              <a:buSzPts val="2850"/>
              <a:buFont typeface="Petrona"/>
              <a:buNone/>
            </a:pPr>
            <a:endParaRPr sz="2950" b="1" i="0" u="none" strike="noStrike" cap="none">
              <a:solidFill>
                <a:srgbClr val="F95F88"/>
              </a:solidFill>
              <a:latin typeface="Petrona"/>
              <a:ea typeface="Petrona"/>
              <a:cs typeface="Petrona"/>
              <a:sym typeface="Petrona"/>
            </a:endParaRPr>
          </a:p>
        </p:txBody>
      </p:sp>
      <p:sp>
        <p:nvSpPr>
          <p:cNvPr id="94" name="Google Shape;94;g3f6d2771d9a_0_2"/>
          <p:cNvSpPr/>
          <p:nvPr/>
        </p:nvSpPr>
        <p:spPr>
          <a:xfrm>
            <a:off x="496125" y="593075"/>
            <a:ext cx="3897900" cy="4412100"/>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5" name="Google Shape;95;g3f6d2771d9a_0_2"/>
          <p:cNvSpPr/>
          <p:nvPr/>
        </p:nvSpPr>
        <p:spPr>
          <a:xfrm>
            <a:off x="633748" y="778075"/>
            <a:ext cx="2834700" cy="228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500"/>
              <a:buFont typeface="Arial"/>
              <a:buNone/>
            </a:pPr>
            <a:r>
              <a:rPr lang="en-US" sz="1500" b="1" i="0" u="none" strike="noStrike" cap="none">
                <a:solidFill>
                  <a:srgbClr val="272525"/>
                </a:solidFill>
                <a:latin typeface="Petrona"/>
                <a:ea typeface="Petrona"/>
                <a:cs typeface="Petrona"/>
                <a:sym typeface="Petrona"/>
              </a:rPr>
              <a:t>1)  Attention is Not Explanation</a:t>
            </a:r>
            <a:endParaRPr sz="1500" b="0" i="0" u="none" strike="noStrike" cap="none">
              <a:solidFill>
                <a:schemeClr val="dk1"/>
              </a:solidFill>
              <a:latin typeface="Calibri"/>
              <a:ea typeface="Calibri"/>
              <a:cs typeface="Calibri"/>
              <a:sym typeface="Calibri"/>
            </a:endParaRPr>
          </a:p>
        </p:txBody>
      </p:sp>
      <p:sp>
        <p:nvSpPr>
          <p:cNvPr id="96" name="Google Shape;96;g3f6d2771d9a_0_2"/>
          <p:cNvSpPr/>
          <p:nvPr/>
        </p:nvSpPr>
        <p:spPr>
          <a:xfrm>
            <a:off x="641325" y="1168150"/>
            <a:ext cx="3607500" cy="334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Jain &amp; Wallace, 2019</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APPROACH</a:t>
            </a:r>
            <a:br>
              <a:rPr lang="en-US" sz="900" b="1"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 Empirical investigation of whether attention weights can be considered faithful explanations of neural network predictions.</a:t>
            </a:r>
            <a:endParaRPr sz="9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CORE IDEA</a:t>
            </a:r>
            <a:br>
              <a:rPr lang="en-US" sz="900" b="1"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 The paper questions the assumption that a model's attention distribution directly represents the information responsible for its output. It investigates whether changing attention necessarily changes the prediction.</a:t>
            </a:r>
            <a:endParaRPr sz="9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KEY CONTRIBUTION</a:t>
            </a:r>
            <a:br>
              <a:rPr lang="en-US" sz="900" b="1"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 Demonstrates that attention weights can sometimes be substantially altered while maintaining similar model predictions. Therefore, </a:t>
            </a:r>
            <a:r>
              <a:rPr lang="en-US" sz="900" b="1" i="0" u="none" strike="noStrike" cap="none">
                <a:solidFill>
                  <a:schemeClr val="dk1"/>
                </a:solidFill>
                <a:latin typeface="Arial"/>
                <a:ea typeface="Arial"/>
                <a:cs typeface="Arial"/>
                <a:sym typeface="Arial"/>
              </a:rPr>
              <a:t>high attention does not automatically mean high explanatory importance</a:t>
            </a:r>
            <a:r>
              <a:rPr lang="en-US" sz="900" b="0" i="0" u="none" strike="noStrike" cap="none">
                <a:solidFill>
                  <a:schemeClr val="dk1"/>
                </a:solidFill>
                <a:latin typeface="Arial"/>
                <a:ea typeface="Arial"/>
                <a:cs typeface="Arial"/>
                <a:sym typeface="Arial"/>
              </a:rPr>
              <a:t>.</a:t>
            </a:r>
            <a:endParaRPr sz="9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SIGNIFICANCE</a:t>
            </a:r>
            <a:br>
              <a:rPr lang="en-US" sz="900" b="1"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 Establishes an important distinction between </a:t>
            </a:r>
            <a:r>
              <a:rPr lang="en-US" sz="900" b="1" i="0" u="none" strike="noStrike" cap="none">
                <a:solidFill>
                  <a:schemeClr val="dk1"/>
                </a:solidFill>
                <a:latin typeface="Arial"/>
                <a:ea typeface="Arial"/>
                <a:cs typeface="Arial"/>
                <a:sym typeface="Arial"/>
              </a:rPr>
              <a:t>model behavior and model explanation</a:t>
            </a:r>
            <a:r>
              <a:rPr lang="en-US" sz="900" b="0" i="0" u="none" strike="noStrike" cap="none">
                <a:solidFill>
                  <a:schemeClr val="dk1"/>
                </a:solidFill>
                <a:latin typeface="Arial"/>
                <a:ea typeface="Arial"/>
                <a:cs typeface="Arial"/>
                <a:sym typeface="Arial"/>
              </a:rPr>
              <a:t>. A visualization showing where a model attends may be intuitive, but intuition alone does not guarantee that the visualization faithfully represents the decision process.</a:t>
            </a:r>
            <a:endParaRPr sz="9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endParaRPr sz="900" b="0" i="0" u="none" strike="noStrike" cap="none">
              <a:solidFill>
                <a:schemeClr val="dk1"/>
              </a:solidFill>
              <a:latin typeface="Arial"/>
              <a:ea typeface="Arial"/>
              <a:cs typeface="Arial"/>
              <a:sym typeface="Arial"/>
            </a:endParaRPr>
          </a:p>
          <a:p>
            <a:pPr marL="0" marR="0" lvl="0" indent="0" algn="l" rtl="0">
              <a:lnSpc>
                <a:spcPct val="129000"/>
              </a:lnSpc>
              <a:spcBef>
                <a:spcPts val="1200"/>
              </a:spcBef>
              <a:spcAft>
                <a:spcPts val="0"/>
              </a:spcAft>
              <a:buClr>
                <a:srgbClr val="272525"/>
              </a:buClr>
              <a:buSzPts val="1000"/>
              <a:buFont typeface="Inter"/>
              <a:buNone/>
            </a:pPr>
            <a:endParaRPr sz="900" b="0" i="0" u="none" strike="noStrike" cap="none">
              <a:solidFill>
                <a:schemeClr val="dk1"/>
              </a:solidFill>
              <a:latin typeface="Calibri"/>
              <a:ea typeface="Calibri"/>
              <a:cs typeface="Calibri"/>
              <a:sym typeface="Calibri"/>
            </a:endParaRPr>
          </a:p>
        </p:txBody>
      </p:sp>
      <p:sp>
        <p:nvSpPr>
          <p:cNvPr id="97" name="Google Shape;97;g3f6d2771d9a_0_2"/>
          <p:cNvSpPr/>
          <p:nvPr/>
        </p:nvSpPr>
        <p:spPr>
          <a:xfrm>
            <a:off x="6151290" y="1619473"/>
            <a:ext cx="2358900" cy="228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400"/>
              <a:buFont typeface="Petrona"/>
              <a:buNone/>
            </a:pPr>
            <a:endParaRPr sz="1400" b="0" i="0" u="none" strike="noStrike" cap="none">
              <a:solidFill>
                <a:schemeClr val="dk1"/>
              </a:solidFill>
              <a:latin typeface="Calibri"/>
              <a:ea typeface="Calibri"/>
              <a:cs typeface="Calibri"/>
              <a:sym typeface="Calibri"/>
            </a:endParaRPr>
          </a:p>
        </p:txBody>
      </p:sp>
      <p:pic>
        <p:nvPicPr>
          <p:cNvPr id="98" name="Google Shape;98;g3f6d2771d9a_0_2"/>
          <p:cNvPicPr preferRelativeResize="0"/>
          <p:nvPr/>
        </p:nvPicPr>
        <p:blipFill rotWithShape="1">
          <a:blip r:embed="rId3">
            <a:alphaModFix/>
          </a:blip>
          <a:srcRect/>
          <a:stretch/>
        </p:blipFill>
        <p:spPr>
          <a:xfrm>
            <a:off x="4546425" y="551825"/>
            <a:ext cx="4445176" cy="4412101"/>
          </a:xfrm>
          <a:prstGeom prst="rect">
            <a:avLst/>
          </a:prstGeom>
          <a:noFill/>
          <a:ln>
            <a:noFill/>
          </a:ln>
        </p:spPr>
      </p:pic>
      <p:sp>
        <p:nvSpPr>
          <p:cNvPr id="99" name="Google Shape;99;g3f6d2771d9a_0_2"/>
          <p:cNvSpPr txBox="1"/>
          <p:nvPr/>
        </p:nvSpPr>
        <p:spPr>
          <a:xfrm>
            <a:off x="5654813" y="71900"/>
            <a:ext cx="2228400" cy="29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Arial"/>
                <a:ea typeface="Arial"/>
                <a:cs typeface="Arial"/>
                <a:sym typeface="Arial"/>
              </a:rPr>
              <a:t>Visual Representation</a:t>
            </a:r>
            <a:endParaRPr sz="1500" b="1"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5"/>
          <p:cNvSpPr/>
          <p:nvPr/>
        </p:nvSpPr>
        <p:spPr>
          <a:xfrm>
            <a:off x="496119" y="1135707"/>
            <a:ext cx="8608963" cy="205978"/>
          </a:xfrm>
          <a:prstGeom prst="rect">
            <a:avLst/>
          </a:prstGeom>
          <a:noFill/>
          <a:ln>
            <a:noFill/>
          </a:ln>
        </p:spPr>
        <p:txBody>
          <a:bodyPr spcFirstLastPara="1" wrap="square" lIns="0" tIns="0" rIns="0" bIns="0" anchor="t" anchorCtr="0">
            <a:noAutofit/>
          </a:bodyPr>
          <a:lstStyle/>
          <a:p>
            <a:pPr marL="0" marR="0" lvl="0" indent="0" algn="l" rtl="0">
              <a:lnSpc>
                <a:spcPct val="129000"/>
              </a:lnSpc>
              <a:spcBef>
                <a:spcPts val="0"/>
              </a:spcBef>
              <a:spcAft>
                <a:spcPts val="0"/>
              </a:spcAft>
              <a:buClr>
                <a:srgbClr val="272525"/>
              </a:buClr>
              <a:buSzPts val="1000"/>
              <a:buFont typeface="Inter"/>
              <a:buNone/>
            </a:pPr>
            <a:endParaRPr sz="1000" b="0" i="0" u="none" strike="noStrike" cap="none">
              <a:solidFill>
                <a:schemeClr val="dk1"/>
              </a:solidFill>
              <a:latin typeface="Calibri"/>
              <a:ea typeface="Calibri"/>
              <a:cs typeface="Calibri"/>
              <a:sym typeface="Calibri"/>
            </a:endParaRPr>
          </a:p>
        </p:txBody>
      </p:sp>
      <p:sp>
        <p:nvSpPr>
          <p:cNvPr id="106" name="Google Shape;106;p5"/>
          <p:cNvSpPr/>
          <p:nvPr/>
        </p:nvSpPr>
        <p:spPr>
          <a:xfrm>
            <a:off x="496125" y="368425"/>
            <a:ext cx="4129200" cy="4728900"/>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7" name="Google Shape;107;p5"/>
          <p:cNvSpPr/>
          <p:nvPr/>
        </p:nvSpPr>
        <p:spPr>
          <a:xfrm>
            <a:off x="587535" y="551036"/>
            <a:ext cx="2358900" cy="228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700"/>
              <a:buFont typeface="Arial"/>
              <a:buNone/>
            </a:pPr>
            <a:r>
              <a:rPr lang="en-US" sz="1700" b="1" i="0" u="none" strike="noStrike" cap="none">
                <a:solidFill>
                  <a:srgbClr val="272525"/>
                </a:solidFill>
                <a:latin typeface="Petrona"/>
                <a:ea typeface="Petrona"/>
                <a:cs typeface="Petrona"/>
                <a:sym typeface="Petrona"/>
              </a:rPr>
              <a:t>2)  Integrated Gradients</a:t>
            </a:r>
            <a:endParaRPr sz="1700" b="0" i="0" u="none" strike="noStrike" cap="none">
              <a:solidFill>
                <a:schemeClr val="dk1"/>
              </a:solidFill>
              <a:latin typeface="Calibri"/>
              <a:ea typeface="Calibri"/>
              <a:cs typeface="Calibri"/>
              <a:sym typeface="Calibri"/>
            </a:endParaRPr>
          </a:p>
        </p:txBody>
      </p:sp>
      <p:sp>
        <p:nvSpPr>
          <p:cNvPr id="108" name="Google Shape;108;p5"/>
          <p:cNvSpPr/>
          <p:nvPr/>
        </p:nvSpPr>
        <p:spPr>
          <a:xfrm>
            <a:off x="727850" y="943525"/>
            <a:ext cx="3703200" cy="4089000"/>
          </a:xfrm>
          <a:prstGeom prst="rect">
            <a:avLst/>
          </a:prstGeom>
          <a:noFill/>
          <a:ln>
            <a:noFill/>
          </a:ln>
        </p:spPr>
        <p:txBody>
          <a:bodyPr spcFirstLastPara="1" wrap="square" lIns="0" tIns="0" rIns="0" bIns="0" anchor="t" anchorCtr="0">
            <a:normAutofit/>
          </a:bodyPr>
          <a:lstStyle/>
          <a:p>
            <a:pPr marL="0" marR="0" lvl="0" indent="0" algn="l" rtl="0">
              <a:lnSpc>
                <a:spcPct val="115000"/>
              </a:lnSpc>
              <a:spcBef>
                <a:spcPts val="1200"/>
              </a:spcBef>
              <a:spcAft>
                <a:spcPts val="0"/>
              </a:spcAft>
              <a:buClr>
                <a:schemeClr val="dk1"/>
              </a:buClr>
              <a:buSzPts val="1100"/>
              <a:buFont typeface="Arial"/>
              <a:buNone/>
            </a:pPr>
            <a:r>
              <a:rPr lang="en-US" sz="1300" b="1" i="0" u="none" strike="noStrike" cap="none">
                <a:solidFill>
                  <a:schemeClr val="dk1"/>
                </a:solidFill>
                <a:latin typeface="Arial"/>
                <a:ea typeface="Arial"/>
                <a:cs typeface="Arial"/>
                <a:sym typeface="Arial"/>
              </a:rPr>
              <a:t>S</a:t>
            </a:r>
            <a:r>
              <a:rPr lang="en-US" sz="1100" b="1" i="0" u="none" strike="noStrike" cap="none">
                <a:solidFill>
                  <a:schemeClr val="dk1"/>
                </a:solidFill>
                <a:latin typeface="Arial"/>
                <a:ea typeface="Arial"/>
                <a:cs typeface="Arial"/>
                <a:sym typeface="Arial"/>
              </a:rPr>
              <a:t>undararajan et al., 2017</a:t>
            </a:r>
            <a:endParaRPr sz="11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1000" b="1" i="0" u="none" strike="noStrike" cap="none">
                <a:solidFill>
                  <a:schemeClr val="dk1"/>
                </a:solidFill>
                <a:latin typeface="Arial"/>
                <a:ea typeface="Arial"/>
                <a:cs typeface="Arial"/>
                <a:sym typeface="Arial"/>
              </a:rPr>
              <a:t>APPROACH</a:t>
            </a:r>
            <a:br>
              <a:rPr lang="en-US" sz="1000" b="1" i="0" u="none" strike="noStrike" cap="none">
                <a:solidFill>
                  <a:schemeClr val="dk1"/>
                </a:solidFill>
                <a:latin typeface="Arial"/>
                <a:ea typeface="Arial"/>
                <a:cs typeface="Arial"/>
                <a:sym typeface="Arial"/>
              </a:rPr>
            </a:br>
            <a:r>
              <a:rPr lang="en-US" sz="1000" b="0" i="0" u="none" strike="noStrike" cap="none">
                <a:solidFill>
                  <a:schemeClr val="dk1"/>
                </a:solidFill>
                <a:latin typeface="Arial"/>
                <a:ea typeface="Arial"/>
                <a:cs typeface="Arial"/>
                <a:sym typeface="Arial"/>
              </a:rPr>
              <a:t> Gradient-based feature attribution that quantifies how individual input features contribute to a model's prediction.</a:t>
            </a:r>
            <a:endParaRPr sz="10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1000" b="1" i="0" u="none" strike="noStrike" cap="none">
                <a:solidFill>
                  <a:schemeClr val="dk1"/>
                </a:solidFill>
                <a:latin typeface="Arial"/>
                <a:ea typeface="Arial"/>
                <a:cs typeface="Arial"/>
                <a:sym typeface="Arial"/>
              </a:rPr>
              <a:t>CORE IDEA</a:t>
            </a:r>
            <a:br>
              <a:rPr lang="en-US" sz="1000" b="1" i="0" u="none" strike="noStrike" cap="none">
                <a:solidFill>
                  <a:schemeClr val="dk1"/>
                </a:solidFill>
                <a:latin typeface="Arial"/>
                <a:ea typeface="Arial"/>
                <a:cs typeface="Arial"/>
                <a:sym typeface="Arial"/>
              </a:rPr>
            </a:br>
            <a:r>
              <a:rPr lang="en-US" sz="1000" b="0" i="0" u="none" strike="noStrike" cap="none">
                <a:solidFill>
                  <a:schemeClr val="dk1"/>
                </a:solidFill>
                <a:latin typeface="Arial"/>
                <a:ea typeface="Arial"/>
                <a:cs typeface="Arial"/>
                <a:sym typeface="Arial"/>
              </a:rPr>
              <a:t> Integrated Gradients compares a real input with a chosen baseline and accumulates the gradients along the path between them. This produces an attribution score for each input feature.</a:t>
            </a:r>
            <a:endParaRPr sz="10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1000" b="1" i="0" u="none" strike="noStrike" cap="none">
                <a:solidFill>
                  <a:schemeClr val="dk1"/>
                </a:solidFill>
                <a:latin typeface="Arial"/>
                <a:ea typeface="Arial"/>
                <a:cs typeface="Arial"/>
                <a:sym typeface="Arial"/>
              </a:rPr>
              <a:t>KEY CONTRIBUTION</a:t>
            </a:r>
            <a:br>
              <a:rPr lang="en-US" sz="1000" b="1" i="0" u="none" strike="noStrike" cap="none">
                <a:solidFill>
                  <a:schemeClr val="dk1"/>
                </a:solidFill>
                <a:latin typeface="Arial"/>
                <a:ea typeface="Arial"/>
                <a:cs typeface="Arial"/>
                <a:sym typeface="Arial"/>
              </a:rPr>
            </a:br>
            <a:r>
              <a:rPr lang="en-US" sz="1000" b="0" i="0" u="none" strike="noStrike" cap="none">
                <a:solidFill>
                  <a:schemeClr val="dk1"/>
                </a:solidFill>
                <a:latin typeface="Arial"/>
                <a:ea typeface="Arial"/>
                <a:cs typeface="Arial"/>
                <a:sym typeface="Arial"/>
              </a:rPr>
              <a:t> Introduces a mathematically motivated attribution framework based on desirable axioms such as </a:t>
            </a:r>
            <a:r>
              <a:rPr lang="en-US" sz="1000" b="1" i="0" u="none" strike="noStrike" cap="none">
                <a:solidFill>
                  <a:schemeClr val="dk1"/>
                </a:solidFill>
                <a:latin typeface="Arial"/>
                <a:ea typeface="Arial"/>
                <a:cs typeface="Arial"/>
                <a:sym typeface="Arial"/>
              </a:rPr>
              <a:t>Sensitivity</a:t>
            </a:r>
            <a:r>
              <a:rPr lang="en-US" sz="1000" b="0" i="0" u="none" strike="noStrike" cap="none">
                <a:solidFill>
                  <a:schemeClr val="dk1"/>
                </a:solidFill>
                <a:latin typeface="Arial"/>
                <a:ea typeface="Arial"/>
                <a:cs typeface="Arial"/>
                <a:sym typeface="Arial"/>
              </a:rPr>
              <a:t> and </a:t>
            </a:r>
            <a:r>
              <a:rPr lang="en-US" sz="1000" b="1" i="0" u="none" strike="noStrike" cap="none">
                <a:solidFill>
                  <a:schemeClr val="dk1"/>
                </a:solidFill>
                <a:latin typeface="Arial"/>
                <a:ea typeface="Arial"/>
                <a:cs typeface="Arial"/>
                <a:sym typeface="Arial"/>
              </a:rPr>
              <a:t>Implementation Invariance</a:t>
            </a:r>
            <a:r>
              <a:rPr lang="en-US" sz="1000" b="0" i="0" u="none" strike="noStrike" cap="none">
                <a:solidFill>
                  <a:schemeClr val="dk1"/>
                </a:solidFill>
                <a:latin typeface="Arial"/>
                <a:ea typeface="Arial"/>
                <a:cs typeface="Arial"/>
                <a:sym typeface="Arial"/>
              </a:rPr>
              <a:t>. This provides a more principled alternative to simply visualizing model activations.</a:t>
            </a:r>
            <a:endParaRPr sz="10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1000" b="1" i="0" u="none" strike="noStrike" cap="none">
                <a:solidFill>
                  <a:schemeClr val="dk1"/>
                </a:solidFill>
                <a:latin typeface="Arial"/>
                <a:ea typeface="Arial"/>
                <a:cs typeface="Arial"/>
                <a:sym typeface="Arial"/>
              </a:rPr>
              <a:t>RELEVANCE TO DOCUMENT AI</a:t>
            </a:r>
            <a:br>
              <a:rPr lang="en-US" sz="1000" b="1" i="0" u="none" strike="noStrike" cap="none">
                <a:solidFill>
                  <a:schemeClr val="dk1"/>
                </a:solidFill>
                <a:latin typeface="Arial"/>
                <a:ea typeface="Arial"/>
                <a:cs typeface="Arial"/>
                <a:sym typeface="Arial"/>
              </a:rPr>
            </a:br>
            <a:r>
              <a:rPr lang="en-US" sz="1000" b="0" i="0" u="none" strike="noStrike" cap="none">
                <a:solidFill>
                  <a:schemeClr val="dk1"/>
                </a:solidFill>
                <a:latin typeface="Arial"/>
                <a:ea typeface="Arial"/>
                <a:cs typeface="Arial"/>
                <a:sym typeface="Arial"/>
              </a:rPr>
              <a:t> Attribution scores can potentially be assigned to </a:t>
            </a:r>
            <a:r>
              <a:rPr lang="en-US" sz="1000" b="1" i="0" u="none" strike="noStrike" cap="none">
                <a:solidFill>
                  <a:schemeClr val="dk1"/>
                </a:solidFill>
                <a:latin typeface="Arial"/>
                <a:ea typeface="Arial"/>
                <a:cs typeface="Arial"/>
                <a:sym typeface="Arial"/>
              </a:rPr>
              <a:t>OCR tokens or textual elements</a:t>
            </a:r>
            <a:r>
              <a:rPr lang="en-US" sz="1000" b="0" i="0" u="none" strike="noStrike" cap="none">
                <a:solidFill>
                  <a:schemeClr val="dk1"/>
                </a:solidFill>
                <a:latin typeface="Arial"/>
                <a:ea typeface="Arial"/>
                <a:cs typeface="Arial"/>
                <a:sym typeface="Arial"/>
              </a:rPr>
              <a:t>, allowing the system to identify which pieces of extracted text contributed most strongly to a prediction.</a:t>
            </a:r>
            <a:endParaRPr sz="1000" b="0" i="0" u="none" strike="noStrike" cap="none">
              <a:solidFill>
                <a:schemeClr val="dk1"/>
              </a:solidFill>
              <a:latin typeface="Arial"/>
              <a:ea typeface="Arial"/>
              <a:cs typeface="Arial"/>
              <a:sym typeface="Arial"/>
            </a:endParaRPr>
          </a:p>
          <a:p>
            <a:pPr marL="0" marR="0" lvl="0" indent="0" algn="l" rtl="0">
              <a:lnSpc>
                <a:spcPct val="129000"/>
              </a:lnSpc>
              <a:spcBef>
                <a:spcPts val="1200"/>
              </a:spcBef>
              <a:spcAft>
                <a:spcPts val="0"/>
              </a:spcAft>
              <a:buClr>
                <a:srgbClr val="272525"/>
              </a:buClr>
              <a:buSzPts val="1000"/>
              <a:buFont typeface="Inter"/>
              <a:buNone/>
            </a:pPr>
            <a:endParaRPr sz="1200" b="0" i="0" u="none" strike="noStrike" cap="none">
              <a:solidFill>
                <a:srgbClr val="272525"/>
              </a:solidFill>
              <a:latin typeface="Inter"/>
              <a:ea typeface="Inter"/>
              <a:cs typeface="Inter"/>
              <a:sym typeface="Inter"/>
            </a:endParaRPr>
          </a:p>
        </p:txBody>
      </p:sp>
      <p:sp>
        <p:nvSpPr>
          <p:cNvPr id="109" name="Google Shape;109;p5"/>
          <p:cNvSpPr/>
          <p:nvPr/>
        </p:nvSpPr>
        <p:spPr>
          <a:xfrm>
            <a:off x="3392537" y="1922636"/>
            <a:ext cx="2358851" cy="823913"/>
          </a:xfrm>
          <a:prstGeom prst="rect">
            <a:avLst/>
          </a:prstGeom>
          <a:noFill/>
          <a:ln>
            <a:noFill/>
          </a:ln>
        </p:spPr>
        <p:txBody>
          <a:bodyPr spcFirstLastPara="1" wrap="square" lIns="0" tIns="0" rIns="0" bIns="0" anchor="t" anchorCtr="0">
            <a:normAutofit/>
          </a:bodyPr>
          <a:lstStyle/>
          <a:p>
            <a:pPr marL="0" marR="0" lvl="0" indent="0" algn="l" rtl="0">
              <a:lnSpc>
                <a:spcPct val="129000"/>
              </a:lnSpc>
              <a:spcBef>
                <a:spcPts val="0"/>
              </a:spcBef>
              <a:spcAft>
                <a:spcPts val="0"/>
              </a:spcAft>
              <a:buClr>
                <a:srgbClr val="272525"/>
              </a:buClr>
              <a:buSzPts val="1000"/>
              <a:buFont typeface="Inter"/>
              <a:buNone/>
            </a:pPr>
            <a:endParaRPr sz="1000" b="0" i="0" u="none" strike="noStrike" cap="none">
              <a:solidFill>
                <a:schemeClr val="dk1"/>
              </a:solidFill>
              <a:latin typeface="Calibri"/>
              <a:ea typeface="Calibri"/>
              <a:cs typeface="Calibri"/>
              <a:sym typeface="Calibri"/>
            </a:endParaRPr>
          </a:p>
        </p:txBody>
      </p:sp>
      <p:pic>
        <p:nvPicPr>
          <p:cNvPr id="110" name="Google Shape;110;p5"/>
          <p:cNvPicPr preferRelativeResize="0"/>
          <p:nvPr/>
        </p:nvPicPr>
        <p:blipFill rotWithShape="1">
          <a:blip r:embed="rId3">
            <a:alphaModFix/>
          </a:blip>
          <a:srcRect/>
          <a:stretch/>
        </p:blipFill>
        <p:spPr>
          <a:xfrm>
            <a:off x="4780475" y="503200"/>
            <a:ext cx="4257650" cy="4529201"/>
          </a:xfrm>
          <a:prstGeom prst="rect">
            <a:avLst/>
          </a:prstGeom>
          <a:noFill/>
          <a:ln>
            <a:noFill/>
          </a:ln>
        </p:spPr>
      </p:pic>
      <p:sp>
        <p:nvSpPr>
          <p:cNvPr id="111" name="Google Shape;111;p5"/>
          <p:cNvSpPr txBox="1"/>
          <p:nvPr/>
        </p:nvSpPr>
        <p:spPr>
          <a:xfrm>
            <a:off x="5913150" y="53925"/>
            <a:ext cx="2282400" cy="260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Arial"/>
                <a:ea typeface="Arial"/>
                <a:cs typeface="Arial"/>
                <a:sym typeface="Arial"/>
              </a:rPr>
              <a:t>Visual Representation</a:t>
            </a:r>
            <a:endParaRPr sz="1500" b="1"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f6d2771d9a_0_45"/>
          <p:cNvSpPr txBox="1"/>
          <p:nvPr/>
        </p:nvSpPr>
        <p:spPr>
          <a:xfrm>
            <a:off x="1426900" y="332450"/>
            <a:ext cx="6777300" cy="65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Comparison of Explainability Methods in Existing Research</a:t>
            </a:r>
            <a:endParaRPr sz="1800" b="1" i="0" u="none" strike="noStrike" cap="none">
              <a:solidFill>
                <a:srgbClr val="000000"/>
              </a:solidFill>
              <a:latin typeface="Arial"/>
              <a:ea typeface="Arial"/>
              <a:cs typeface="Arial"/>
              <a:sym typeface="Arial"/>
            </a:endParaRPr>
          </a:p>
        </p:txBody>
      </p:sp>
      <p:graphicFrame>
        <p:nvGraphicFramePr>
          <p:cNvPr id="118" name="Google Shape;118;g3f6d2771d9a_0_45"/>
          <p:cNvGraphicFramePr/>
          <p:nvPr/>
        </p:nvGraphicFramePr>
        <p:xfrm>
          <a:off x="191475" y="1222200"/>
          <a:ext cx="3000000" cy="3000000"/>
        </p:xfrm>
        <a:graphic>
          <a:graphicData uri="http://schemas.openxmlformats.org/drawingml/2006/table">
            <a:tbl>
              <a:tblPr>
                <a:noFill/>
                <a:tableStyleId>{D1EA7DDF-575E-4737-A5FE-D030BCAD1714}</a:tableStyleId>
              </a:tblPr>
              <a:tblGrid>
                <a:gridCol w="164782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3305175">
                  <a:extLst>
                    <a:ext uri="{9D8B030D-6E8A-4147-A177-3AD203B41FA5}">
                      <a16:colId xmlns:a16="http://schemas.microsoft.com/office/drawing/2014/main" val="20002"/>
                    </a:ext>
                  </a:extLst>
                </a:gridCol>
                <a:gridCol w="2609850">
                  <a:extLst>
                    <a:ext uri="{9D8B030D-6E8A-4147-A177-3AD203B41FA5}">
                      <a16:colId xmlns:a16="http://schemas.microsoft.com/office/drawing/2014/main" val="20003"/>
                    </a:ext>
                  </a:extLst>
                </a:gridCol>
              </a:tblGrid>
              <a:tr h="512800">
                <a:tc>
                  <a:txBody>
                    <a:bodyPr/>
                    <a:lstStyle/>
                    <a:p>
                      <a:pPr marL="0" marR="0" lvl="0" indent="0" algn="l" rtl="0">
                        <a:lnSpc>
                          <a:spcPct val="115000"/>
                        </a:lnSpc>
                        <a:spcBef>
                          <a:spcPts val="0"/>
                        </a:spcBef>
                        <a:spcAft>
                          <a:spcPts val="0"/>
                        </a:spcAft>
                        <a:buClr>
                          <a:srgbClr val="000000"/>
                        </a:buClr>
                        <a:buSzPts val="1100"/>
                        <a:buFont typeface="Arial"/>
                        <a:buNone/>
                      </a:pPr>
                      <a:r>
                        <a:rPr lang="en-US" sz="1100" b="1" u="none" strike="noStrike" cap="none"/>
                        <a:t>Reference / Method</a:t>
                      </a:r>
                      <a:endParaRPr sz="1100" b="1" u="none" strike="noStrike" cap="none"/>
                    </a:p>
                  </a:txBody>
                  <a:tcPr marL="91425" marR="91425" marT="91425" marB="91425">
                    <a:solidFill>
                      <a:srgbClr val="8E7CC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US" sz="1100" b="1" u="none" strike="noStrike" cap="none"/>
                        <a:t>Approach</a:t>
                      </a:r>
                      <a:endParaRPr sz="1100" b="1" u="none" strike="noStrike" cap="none"/>
                    </a:p>
                  </a:txBody>
                  <a:tcPr marL="91425" marR="91425" marT="91425" marB="91425">
                    <a:solidFill>
                      <a:srgbClr val="8E7CC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US" sz="1100" b="1" u="none" strike="noStrike" cap="none"/>
                        <a:t>Key Contribution</a:t>
                      </a:r>
                      <a:endParaRPr sz="1100" b="1" u="none" strike="noStrike" cap="none"/>
                    </a:p>
                  </a:txBody>
                  <a:tcPr marL="91425" marR="91425" marT="91425" marB="91425">
                    <a:solidFill>
                      <a:srgbClr val="8E7CC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US" sz="1100" b="1" u="none" strike="noStrike" cap="none"/>
                        <a:t>Limitation</a:t>
                      </a:r>
                      <a:endParaRPr sz="1100" b="1" u="none" strike="noStrike" cap="none"/>
                    </a:p>
                  </a:txBody>
                  <a:tcPr marL="91425" marR="91425" marT="91425" marB="91425">
                    <a:solidFill>
                      <a:srgbClr val="8E7CC3"/>
                    </a:solidFill>
                  </a:tcPr>
                </a:tc>
                <a:extLst>
                  <a:ext uri="{0D108BD9-81ED-4DB2-BD59-A6C34878D82A}">
                    <a16:rowId xmlns:a16="http://schemas.microsoft.com/office/drawing/2014/main" val="10000"/>
                  </a:ext>
                </a:extLst>
              </a:tr>
              <a:tr h="1193150">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t>1) Sundararajan et al. (2017) — Integrated Gradients </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t>Gradient-based feature attribution</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Provides mathematically grounded attribution scores by integrating gradients from a baseline to the input; satisfies </a:t>
                      </a:r>
                      <a:r>
                        <a:rPr lang="en-US" sz="1100" b="1" u="none" strike="noStrike" cap="none"/>
                        <a:t>Sensitivity</a:t>
                      </a:r>
                      <a:r>
                        <a:rPr lang="en-US" sz="1100" u="none" strike="noStrike" cap="none"/>
                        <a:t> and </a:t>
                      </a:r>
                      <a:r>
                        <a:rPr lang="en-US" sz="1100" b="1" u="none" strike="noStrike" cap="none"/>
                        <a:t>Implementation Invariance</a:t>
                      </a:r>
                      <a:r>
                        <a:rPr lang="en-US" sz="1100" u="none" strike="noStrike" cap="none"/>
                        <a:t>.</a:t>
                      </a:r>
                      <a:endParaRPr sz="11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Identifies influential features but does not inherently capture </a:t>
                      </a:r>
                      <a:r>
                        <a:rPr lang="en-US" sz="1100" b="1" u="none" strike="noStrike" cap="none"/>
                        <a:t>spatial layout, hierarchical relationships, or document structure</a:t>
                      </a:r>
                      <a:r>
                        <a:rPr lang="en-US" sz="1100" u="none" strike="noStrike" cap="none"/>
                        <a:t>.</a:t>
                      </a:r>
                      <a:endParaRPr sz="1100" u="none" strike="noStrike" cap="none"/>
                    </a:p>
                  </a:txBody>
                  <a:tcPr marL="91425" marR="91425" marT="91425" marB="91425"/>
                </a:tc>
                <a:extLst>
                  <a:ext uri="{0D108BD9-81ED-4DB2-BD59-A6C34878D82A}">
                    <a16:rowId xmlns:a16="http://schemas.microsoft.com/office/drawing/2014/main" val="10001"/>
                  </a:ext>
                </a:extLst>
              </a:tr>
              <a:tr h="1193150">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t>2) Jain &amp; Wallace        (2019) — Attention is Not Explanation</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t>Attention-based interpretability</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Demonstrates that attention distributions can change substantially without significantly changing predictions, challenging the assumption that </a:t>
                      </a:r>
                      <a:r>
                        <a:rPr lang="en-US" sz="1100" b="1" u="none" strike="noStrike" cap="none"/>
                        <a:t>attention = explanation</a:t>
                      </a:r>
                      <a:r>
                        <a:rPr lang="en-US" sz="1100" u="none" strike="noStrike" cap="none"/>
                        <a:t>.</a:t>
                      </a:r>
                      <a:endParaRPr sz="11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Attention weights alone may not provide </a:t>
                      </a:r>
                      <a:r>
                        <a:rPr lang="en-US" sz="1100" b="1" u="none" strike="noStrike" cap="none"/>
                        <a:t>faithful feature importance</a:t>
                      </a:r>
                      <a:r>
                        <a:rPr lang="en-US" sz="1100" u="none" strike="noStrike" cap="none"/>
                        <a:t> or establish why specific evidence drives a prediction.</a:t>
                      </a:r>
                      <a:endParaRPr sz="1100" u="none" strike="noStrike" cap="none"/>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p:nvPr/>
        </p:nvSpPr>
        <p:spPr>
          <a:xfrm>
            <a:off x="235977" y="122500"/>
            <a:ext cx="4722763" cy="47967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3000"/>
              <a:buFont typeface="Petrona"/>
              <a:buNone/>
            </a:pPr>
            <a:r>
              <a:rPr lang="en-US" sz="3000" b="1" i="0" u="none" strike="noStrike" cap="none">
                <a:solidFill>
                  <a:srgbClr val="F95F88"/>
                </a:solidFill>
                <a:latin typeface="Petrona"/>
                <a:ea typeface="Petrona"/>
                <a:cs typeface="Petrona"/>
                <a:sym typeface="Petrona"/>
              </a:rPr>
              <a:t>Research Gap</a:t>
            </a:r>
            <a:endParaRPr sz="3000" b="0" i="0" u="none" strike="noStrike" cap="none">
              <a:solidFill>
                <a:schemeClr val="dk1"/>
              </a:solidFill>
              <a:latin typeface="Calibri"/>
              <a:ea typeface="Calibri"/>
              <a:cs typeface="Calibri"/>
              <a:sym typeface="Calibri"/>
            </a:endParaRPr>
          </a:p>
        </p:txBody>
      </p:sp>
      <p:sp>
        <p:nvSpPr>
          <p:cNvPr id="125" name="Google Shape;125;p6"/>
          <p:cNvSpPr/>
          <p:nvPr/>
        </p:nvSpPr>
        <p:spPr>
          <a:xfrm>
            <a:off x="535186" y="1221284"/>
            <a:ext cx="2113062" cy="23983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FFFFF"/>
              </a:buClr>
              <a:buSzPts val="1500"/>
              <a:buFont typeface="Petrona"/>
              <a:buNone/>
            </a:pPr>
            <a:r>
              <a:rPr lang="en-US" sz="1500" b="1" i="0" u="none" strike="noStrike" cap="none">
                <a:solidFill>
                  <a:srgbClr val="FFFFFF"/>
                </a:solidFill>
                <a:latin typeface="Petrona"/>
                <a:ea typeface="Petrona"/>
                <a:cs typeface="Petrona"/>
                <a:sym typeface="Petrona"/>
              </a:rPr>
              <a:t>Identified Gaps</a:t>
            </a:r>
            <a:endParaRPr sz="1500" b="0" i="0" u="none" strike="noStrike" cap="none">
              <a:solidFill>
                <a:schemeClr val="dk1"/>
              </a:solidFill>
              <a:latin typeface="Calibri"/>
              <a:ea typeface="Calibri"/>
              <a:cs typeface="Calibri"/>
              <a:sym typeface="Calibri"/>
            </a:endParaRPr>
          </a:p>
        </p:txBody>
      </p:sp>
      <p:sp>
        <p:nvSpPr>
          <p:cNvPr id="126" name="Google Shape;126;p6"/>
          <p:cNvSpPr txBox="1"/>
          <p:nvPr/>
        </p:nvSpPr>
        <p:spPr>
          <a:xfrm>
            <a:off x="4958755" y="602166"/>
            <a:ext cx="3945900" cy="4309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300" b="1" i="0" u="none" strike="noStrike" cap="none">
                <a:solidFill>
                  <a:srgbClr val="000000"/>
                </a:solidFill>
                <a:latin typeface="Arial"/>
                <a:ea typeface="Arial"/>
                <a:cs typeface="Arial"/>
                <a:sym typeface="Arial"/>
              </a:rPr>
              <a:t>Motivation to Bridge the Gap</a:t>
            </a:r>
            <a:endParaRPr sz="1300"/>
          </a:p>
          <a:p>
            <a:pPr marL="0" marR="0" lvl="0" indent="0" algn="l" rtl="0">
              <a:lnSpc>
                <a:spcPct val="100000"/>
              </a:lnSpc>
              <a:spcBef>
                <a:spcPts val="0"/>
              </a:spcBef>
              <a:spcAft>
                <a:spcPts val="0"/>
              </a:spcAft>
              <a:buClr>
                <a:srgbClr val="000000"/>
              </a:buClr>
              <a:buSzPts val="1400"/>
              <a:buFont typeface="Arial"/>
              <a:buNone/>
            </a:pPr>
            <a:r>
              <a:rPr lang="en-US" sz="1300" b="1" i="0" u="none" strike="noStrike" cap="none">
                <a:solidFill>
                  <a:srgbClr val="000000"/>
                </a:solidFill>
                <a:latin typeface="Arial"/>
                <a:ea typeface="Arial"/>
                <a:cs typeface="Arial"/>
                <a:sym typeface="Arial"/>
              </a:rPr>
              <a:t>DeepTrace addresses these gaps by integrating the major components into a unified Document AI framework.</a:t>
            </a:r>
            <a:endParaRPr sz="1300" b="0" i="0" u="none" strike="noStrike" cap="none">
              <a:solidFill>
                <a:srgbClr val="000000"/>
              </a:solidFill>
              <a:latin typeface="Arial"/>
              <a:ea typeface="Arial"/>
              <a:cs typeface="Arial"/>
              <a:sym typeface="Arial"/>
            </a:endParaRPr>
          </a:p>
          <a:p>
            <a:pPr marL="342900" marR="0" lvl="0" indent="-330200" algn="l" rtl="0">
              <a:lnSpc>
                <a:spcPct val="100000"/>
              </a:lnSpc>
              <a:spcBef>
                <a:spcPts val="0"/>
              </a:spcBef>
              <a:spcAft>
                <a:spcPts val="0"/>
              </a:spcAft>
              <a:buClr>
                <a:srgbClr val="000000"/>
              </a:buClr>
              <a:buSzPts val="1200"/>
              <a:buFont typeface="Arial"/>
              <a:buChar char="•"/>
            </a:pPr>
            <a:r>
              <a:rPr lang="en-US" sz="1200" b="1" i="0" u="none" strike="noStrike" cap="none">
                <a:solidFill>
                  <a:srgbClr val="000000"/>
                </a:solidFill>
                <a:latin typeface="Arial"/>
                <a:ea typeface="Arial"/>
                <a:cs typeface="Arial"/>
                <a:sym typeface="Arial"/>
              </a:rPr>
              <a:t>Gap 1 → Long-context + structural perception:</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DeepTrace combines </a:t>
            </a:r>
            <a:r>
              <a:rPr lang="en-US" sz="1200" b="1" i="0" u="none" strike="noStrike" cap="none">
                <a:solidFill>
                  <a:srgbClr val="000000"/>
                </a:solidFill>
                <a:latin typeface="Arial"/>
                <a:ea typeface="Arial"/>
                <a:cs typeface="Arial"/>
                <a:sym typeface="Arial"/>
              </a:rPr>
              <a:t>Unlimited OCR with R-SWA</a:t>
            </a:r>
            <a:r>
              <a:rPr lang="en-US" sz="1200" b="0" i="0" u="none" strike="noStrike" cap="none">
                <a:solidFill>
                  <a:srgbClr val="000000"/>
                </a:solidFill>
                <a:latin typeface="Arial"/>
                <a:ea typeface="Arial"/>
                <a:cs typeface="Arial"/>
                <a:sym typeface="Arial"/>
              </a:rPr>
              <a:t> and </a:t>
            </a:r>
            <a:r>
              <a:rPr lang="en-US" sz="1200" b="1" i="0" u="none" strike="noStrike" cap="none">
                <a:solidFill>
                  <a:srgbClr val="000000"/>
                </a:solidFill>
                <a:latin typeface="Arial"/>
                <a:ea typeface="Arial"/>
                <a:cs typeface="Arial"/>
                <a:sym typeface="Arial"/>
              </a:rPr>
              <a:t>Hierarchical Layout Parsing (HLP)</a:t>
            </a:r>
            <a:r>
              <a:rPr lang="en-US" sz="1200" b="0" i="0" u="none" strike="noStrike" cap="none">
                <a:solidFill>
                  <a:srgbClr val="000000"/>
                </a:solidFill>
                <a:latin typeface="Arial"/>
                <a:ea typeface="Arial"/>
                <a:cs typeface="Arial"/>
                <a:sym typeface="Arial"/>
              </a:rPr>
              <a:t> to process multi-page documents while preserving their textual, spatial, and hierarchical information. </a:t>
            </a:r>
            <a:endParaRPr sz="1200"/>
          </a:p>
          <a:p>
            <a:pPr marL="342900" marR="0" lvl="0" indent="-330200" algn="l" rtl="0">
              <a:lnSpc>
                <a:spcPct val="100000"/>
              </a:lnSpc>
              <a:spcBef>
                <a:spcPts val="0"/>
              </a:spcBef>
              <a:spcAft>
                <a:spcPts val="0"/>
              </a:spcAft>
              <a:buClr>
                <a:srgbClr val="000000"/>
              </a:buClr>
              <a:buSzPts val="1200"/>
              <a:buFont typeface="Arial"/>
              <a:buChar char="•"/>
            </a:pPr>
            <a:r>
              <a:rPr lang="en-US" sz="1200" b="1" i="0" u="none" strike="noStrike" cap="none">
                <a:solidFill>
                  <a:srgbClr val="000000"/>
                </a:solidFill>
                <a:latin typeface="Arial"/>
                <a:ea typeface="Arial"/>
                <a:cs typeface="Arial"/>
                <a:sym typeface="Arial"/>
              </a:rPr>
              <a:t>Gap 2 → Integrated explainability:</a:t>
            </a:r>
            <a:br>
              <a:rPr lang="en-US" sz="1200" b="0" i="0" u="none" strike="noStrike" cap="none">
                <a:solidFill>
                  <a:srgbClr val="000000"/>
                </a:solidFill>
                <a:latin typeface="Arial"/>
                <a:ea typeface="Arial"/>
                <a:cs typeface="Arial"/>
                <a:sym typeface="Arial"/>
              </a:rPr>
            </a:br>
            <a:r>
              <a:rPr lang="en-US" sz="1200" b="1" i="0" u="none" strike="noStrike" cap="none">
                <a:solidFill>
                  <a:srgbClr val="000000"/>
                </a:solidFill>
                <a:latin typeface="Arial"/>
                <a:ea typeface="Arial"/>
                <a:cs typeface="Arial"/>
                <a:sym typeface="Arial"/>
              </a:rPr>
              <a:t>Integrated Gadients (IG)</a:t>
            </a:r>
            <a:r>
              <a:rPr lang="en-US" sz="1200" b="0" i="0" u="none" strike="noStrike" cap="none">
                <a:solidFill>
                  <a:srgbClr val="000000"/>
                </a:solidFill>
                <a:latin typeface="Arial"/>
                <a:ea typeface="Arial"/>
                <a:cs typeface="Arial"/>
                <a:sym typeface="Arial"/>
              </a:rPr>
              <a:t> is incorporated to identify information contributing to model predictions and associate attribution with the document representation. </a:t>
            </a:r>
            <a:endParaRPr sz="1200"/>
          </a:p>
          <a:p>
            <a:pPr marL="342900" marR="0" lvl="0" indent="-342900" algn="l" rtl="0">
              <a:lnSpc>
                <a:spcPct val="100000"/>
              </a:lnSpc>
              <a:spcBef>
                <a:spcPts val="0"/>
              </a:spcBef>
              <a:spcAft>
                <a:spcPts val="0"/>
              </a:spcAft>
              <a:buClr>
                <a:srgbClr val="000000"/>
              </a:buClr>
              <a:buSzPts val="1400"/>
              <a:buFont typeface="Arial"/>
              <a:buChar char="•"/>
            </a:pPr>
            <a:r>
              <a:rPr lang="en-US" sz="1200" b="1" i="0" u="none" strike="noStrike" cap="none">
                <a:solidFill>
                  <a:srgbClr val="000000"/>
                </a:solidFill>
                <a:latin typeface="Arial"/>
                <a:ea typeface="Arial"/>
                <a:cs typeface="Arial"/>
                <a:sym typeface="Arial"/>
              </a:rPr>
              <a:t>Gap 3 → Evidence grounding:</a:t>
            </a:r>
            <a:br>
              <a:rPr lang="en-US" sz="1200" b="0" i="0" u="none" strike="noStrike" cap="none">
                <a:solidFill>
                  <a:srgbClr val="000000"/>
                </a:solidFill>
                <a:latin typeface="Arial"/>
                <a:ea typeface="Arial"/>
                <a:cs typeface="Arial"/>
                <a:sym typeface="Arial"/>
              </a:rPr>
            </a:br>
            <a:r>
              <a:rPr lang="en-US" sz="1100">
                <a:solidFill>
                  <a:schemeClr val="dk1"/>
                </a:solidFill>
              </a:rPr>
              <a:t>DeepTrace maps </a:t>
            </a:r>
            <a:r>
              <a:rPr lang="en-US" sz="1100" b="1">
                <a:solidFill>
                  <a:schemeClr val="dk1"/>
                </a:solidFill>
              </a:rPr>
              <a:t>Integrated Gradients attribution scores to OCR tokens and their spatial coordinates</a:t>
            </a:r>
            <a:r>
              <a:rPr lang="en-US" sz="1100">
                <a:solidFill>
                  <a:schemeClr val="dk1"/>
                </a:solidFill>
              </a:rPr>
              <a:t>, and uses </a:t>
            </a:r>
            <a:r>
              <a:rPr lang="en-US" sz="1100" b="1">
                <a:solidFill>
                  <a:schemeClr val="dk1"/>
                </a:solidFill>
              </a:rPr>
              <a:t>Hierarchical Layout Parsing (HLP)</a:t>
            </a:r>
            <a:r>
              <a:rPr lang="en-US" sz="1100">
                <a:solidFill>
                  <a:schemeClr val="dk1"/>
                </a:solidFill>
              </a:rPr>
              <a:t> to associate these tokens with meaningful document elements such as </a:t>
            </a:r>
            <a:r>
              <a:rPr lang="en-US" sz="1100" b="1">
                <a:solidFill>
                  <a:schemeClr val="dk1"/>
                </a:solidFill>
              </a:rPr>
              <a:t>paragraphs, tables, headers, and sections</a:t>
            </a:r>
            <a:r>
              <a:rPr lang="en-US" sz="1100">
                <a:solidFill>
                  <a:schemeClr val="dk1"/>
                </a:solidFill>
              </a:rPr>
              <a:t>. This allows model predictions to be traced back to specific evidence in the original document.</a:t>
            </a:r>
            <a:endParaRPr/>
          </a:p>
        </p:txBody>
      </p:sp>
      <p:sp>
        <p:nvSpPr>
          <p:cNvPr id="127" name="Google Shape;127;p6"/>
          <p:cNvSpPr/>
          <p:nvPr/>
        </p:nvSpPr>
        <p:spPr>
          <a:xfrm>
            <a:off x="233625" y="638000"/>
            <a:ext cx="4151400" cy="4505500"/>
          </a:xfrm>
          <a:prstGeom prst="roundRect">
            <a:avLst>
              <a:gd name="adj" fmla="val 3471"/>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Gap 1: Long-Context and Structural Understanding</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Existing approaches for long-context document processing and document layout understanding are not sufficiently integrated. Processing information across multiple pages does not by itself capture the hierarchical and spatial relationships between document elements.</a:t>
            </a:r>
            <a:endParaRPr/>
          </a:p>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Gap 2: Explainability within Document Understanding</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Existing explainability and attribution methods are not sufficiently integrated with long-context and structure-aware document reasoning. This makes it difficult to associate model-level attribution with meaningful elements of a complex document.</a:t>
            </a:r>
            <a:endParaRPr/>
          </a:p>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Gap 3: Evidence-Level Traceability</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There is limited connection between model predictions and the corresponding textual, layout, and structural evidence in the original document. Users may therefore be unable to clearly verify why a particular prediction was produced.</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p:nvPr/>
        </p:nvSpPr>
        <p:spPr>
          <a:xfrm>
            <a:off x="496119" y="503858"/>
            <a:ext cx="8151763" cy="48726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3050"/>
              <a:buFont typeface="Petrona"/>
              <a:buNone/>
            </a:pPr>
            <a:r>
              <a:rPr lang="en-US" sz="3050" b="1" i="0" u="none" strike="noStrike" cap="none">
                <a:solidFill>
                  <a:srgbClr val="F95F88"/>
                </a:solidFill>
                <a:latin typeface="Petrona"/>
                <a:ea typeface="Petrona"/>
                <a:cs typeface="Petrona"/>
                <a:sym typeface="Petrona"/>
              </a:rPr>
              <a:t>Objectives</a:t>
            </a:r>
            <a:endParaRPr sz="3050" b="0" i="0" u="none" strike="noStrike" cap="none">
              <a:solidFill>
                <a:schemeClr val="dk1"/>
              </a:solidFill>
              <a:latin typeface="Calibri"/>
              <a:ea typeface="Calibri"/>
              <a:cs typeface="Calibri"/>
              <a:sym typeface="Calibri"/>
            </a:endParaRPr>
          </a:p>
        </p:txBody>
      </p:sp>
      <p:sp>
        <p:nvSpPr>
          <p:cNvPr id="134" name="Google Shape;134;p7" descr="preencoded.png"/>
          <p:cNvSpPr/>
          <p:nvPr/>
        </p:nvSpPr>
        <p:spPr>
          <a:xfrm>
            <a:off x="496119" y="1274638"/>
            <a:ext cx="354360" cy="3543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348119" y="1760128"/>
            <a:ext cx="3987300" cy="243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500"/>
              <a:buFont typeface="Petrona"/>
              <a:buNone/>
            </a:pPr>
            <a:r>
              <a:rPr lang="en-US" sz="1500" b="1" i="0" u="none" strike="noStrike" cap="none">
                <a:solidFill>
                  <a:srgbClr val="272525"/>
                </a:solidFill>
                <a:latin typeface="Petrona"/>
                <a:ea typeface="Petrona"/>
                <a:cs typeface="Petrona"/>
                <a:sym typeface="Petrona"/>
              </a:rPr>
              <a:t>Primary Objective</a:t>
            </a:r>
            <a:endParaRPr sz="1500" b="0" i="0" u="none" strike="noStrike" cap="none">
              <a:solidFill>
                <a:schemeClr val="dk1"/>
              </a:solidFill>
              <a:latin typeface="Calibri"/>
              <a:ea typeface="Calibri"/>
              <a:cs typeface="Calibri"/>
              <a:sym typeface="Calibri"/>
            </a:endParaRPr>
          </a:p>
        </p:txBody>
      </p:sp>
      <p:sp>
        <p:nvSpPr>
          <p:cNvPr id="136" name="Google Shape;136;p7"/>
          <p:cNvSpPr/>
          <p:nvPr/>
        </p:nvSpPr>
        <p:spPr>
          <a:xfrm>
            <a:off x="348119" y="2049864"/>
            <a:ext cx="3987300" cy="6804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US" sz="1100" b="0" i="0" u="none" strike="noStrike" cap="none">
                <a:solidFill>
                  <a:srgbClr val="000000"/>
                </a:solidFill>
                <a:latin typeface="Arial"/>
                <a:ea typeface="Arial"/>
                <a:cs typeface="Arial"/>
                <a:sym typeface="Arial"/>
              </a:rPr>
              <a:t>To design and develop a unified Document AI framework that integrates long-context perception, structural document understanding, and evidence-grounded explainability for transparent and traceable analysis of complex documents.</a:t>
            </a:r>
            <a:endParaRPr sz="1100" b="0" i="0" u="none" strike="noStrike" cap="none">
              <a:solidFill>
                <a:schemeClr val="dk1"/>
              </a:solidFill>
              <a:latin typeface="Calibri"/>
              <a:ea typeface="Calibri"/>
              <a:cs typeface="Calibri"/>
              <a:sym typeface="Calibri"/>
            </a:endParaRPr>
          </a:p>
        </p:txBody>
      </p:sp>
      <p:sp>
        <p:nvSpPr>
          <p:cNvPr id="137" name="Google Shape;137;p7" descr="preencoded.png"/>
          <p:cNvSpPr/>
          <p:nvPr/>
        </p:nvSpPr>
        <p:spPr>
          <a:xfrm>
            <a:off x="4660553" y="1274638"/>
            <a:ext cx="354360" cy="3543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7"/>
          <p:cNvSpPr/>
          <p:nvPr/>
        </p:nvSpPr>
        <p:spPr>
          <a:xfrm>
            <a:off x="4660553" y="1806178"/>
            <a:ext cx="3987329" cy="24370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500"/>
              <a:buFont typeface="Petrona"/>
              <a:buNone/>
            </a:pPr>
            <a:r>
              <a:rPr lang="en-US" sz="1500" b="1" i="0" u="none" strike="noStrike" cap="none">
                <a:solidFill>
                  <a:srgbClr val="272525"/>
                </a:solidFill>
                <a:latin typeface="Petrona"/>
                <a:ea typeface="Petrona"/>
                <a:cs typeface="Petrona"/>
                <a:sym typeface="Petrona"/>
              </a:rPr>
              <a:t>Specific Objective 1</a:t>
            </a:r>
            <a:endParaRPr sz="1500" b="0" i="0" u="none" strike="noStrike" cap="none">
              <a:solidFill>
                <a:schemeClr val="dk1"/>
              </a:solidFill>
              <a:latin typeface="Calibri"/>
              <a:ea typeface="Calibri"/>
              <a:cs typeface="Calibri"/>
              <a:sym typeface="Calibri"/>
            </a:endParaRPr>
          </a:p>
        </p:txBody>
      </p:sp>
      <p:sp>
        <p:nvSpPr>
          <p:cNvPr id="139" name="Google Shape;139;p7"/>
          <p:cNvSpPr/>
          <p:nvPr/>
        </p:nvSpPr>
        <p:spPr>
          <a:xfrm>
            <a:off x="4660553" y="2134939"/>
            <a:ext cx="3987329" cy="680442"/>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US" sz="1100" b="0" i="0" u="none" strike="noStrike" cap="none">
                <a:solidFill>
                  <a:srgbClr val="000000"/>
                </a:solidFill>
                <a:latin typeface="Arial"/>
                <a:ea typeface="Arial"/>
                <a:cs typeface="Arial"/>
                <a:sym typeface="Arial"/>
              </a:rPr>
              <a:t>To design an integrated pipeline that combines long-context document perception, hierarchical document representation, document-level reasoning, and evidence attribution within a unified framework.</a:t>
            </a:r>
            <a:endParaRPr sz="1100" b="0" i="0" u="none" strike="noStrike" cap="none">
              <a:solidFill>
                <a:schemeClr val="dk1"/>
              </a:solidFill>
              <a:latin typeface="Calibri"/>
              <a:ea typeface="Calibri"/>
              <a:cs typeface="Calibri"/>
              <a:sym typeface="Calibri"/>
            </a:endParaRPr>
          </a:p>
        </p:txBody>
      </p:sp>
      <p:sp>
        <p:nvSpPr>
          <p:cNvPr id="140" name="Google Shape;140;p7" descr="preencoded.png"/>
          <p:cNvSpPr/>
          <p:nvPr/>
        </p:nvSpPr>
        <p:spPr>
          <a:xfrm>
            <a:off x="496119" y="3098899"/>
            <a:ext cx="354360" cy="3543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a:off x="496119" y="3630439"/>
            <a:ext cx="3987254" cy="24370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500"/>
              <a:buFont typeface="Petrona"/>
              <a:buNone/>
            </a:pPr>
            <a:r>
              <a:rPr lang="en-US" sz="1500" b="1" i="0" u="none" strike="noStrike" cap="none">
                <a:solidFill>
                  <a:srgbClr val="272525"/>
                </a:solidFill>
                <a:latin typeface="Petrona"/>
                <a:ea typeface="Petrona"/>
                <a:cs typeface="Petrona"/>
                <a:sym typeface="Petrona"/>
              </a:rPr>
              <a:t>Specific Objective 2</a:t>
            </a:r>
            <a:endParaRPr sz="1500" b="0" i="0" u="none" strike="noStrike" cap="none">
              <a:solidFill>
                <a:schemeClr val="dk1"/>
              </a:solidFill>
              <a:latin typeface="Calibri"/>
              <a:ea typeface="Calibri"/>
              <a:cs typeface="Calibri"/>
              <a:sym typeface="Calibri"/>
            </a:endParaRPr>
          </a:p>
        </p:txBody>
      </p:sp>
      <p:sp>
        <p:nvSpPr>
          <p:cNvPr id="142" name="Google Shape;142;p7"/>
          <p:cNvSpPr/>
          <p:nvPr/>
        </p:nvSpPr>
        <p:spPr>
          <a:xfrm>
            <a:off x="496119" y="3959200"/>
            <a:ext cx="3987254" cy="680442"/>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US" sz="1100" b="0" i="0" u="none" strike="noStrike" cap="none">
                <a:solidFill>
                  <a:srgbClr val="000000"/>
                </a:solidFill>
                <a:latin typeface="Arial"/>
                <a:ea typeface="Arial"/>
                <a:cs typeface="Arial"/>
                <a:sym typeface="Arial"/>
              </a:rPr>
              <a:t>To implement the proposed framework by integrating long-context OCR, hierarchical layout processing, feature attribution, and multi-level evidence grounding to connect predictions with their supporting document evidence.</a:t>
            </a:r>
            <a:endParaRPr sz="1100" b="0" i="0" u="none" strike="noStrike" cap="none">
              <a:solidFill>
                <a:schemeClr val="dk1"/>
              </a:solidFill>
              <a:latin typeface="Calibri"/>
              <a:ea typeface="Calibri"/>
              <a:cs typeface="Calibri"/>
              <a:sym typeface="Calibri"/>
            </a:endParaRPr>
          </a:p>
        </p:txBody>
      </p:sp>
      <p:sp>
        <p:nvSpPr>
          <p:cNvPr id="143" name="Google Shape;143;p7" descr="preencoded.png"/>
          <p:cNvSpPr/>
          <p:nvPr/>
        </p:nvSpPr>
        <p:spPr>
          <a:xfrm>
            <a:off x="4660553" y="3098899"/>
            <a:ext cx="354360" cy="3543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a:off x="4660553" y="3630439"/>
            <a:ext cx="3987329" cy="24370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500"/>
              <a:buFont typeface="Petrona"/>
              <a:buNone/>
            </a:pPr>
            <a:r>
              <a:rPr lang="en-US" sz="1500" b="1" i="0" u="none" strike="noStrike" cap="none">
                <a:solidFill>
                  <a:srgbClr val="272525"/>
                </a:solidFill>
                <a:latin typeface="Petrona"/>
                <a:ea typeface="Petrona"/>
                <a:cs typeface="Petrona"/>
                <a:sym typeface="Petrona"/>
              </a:rPr>
              <a:t>Specific Objective 3</a:t>
            </a:r>
            <a:endParaRPr sz="1500" b="0" i="0" u="none" strike="noStrike" cap="none">
              <a:solidFill>
                <a:schemeClr val="dk1"/>
              </a:solidFill>
              <a:latin typeface="Calibri"/>
              <a:ea typeface="Calibri"/>
              <a:cs typeface="Calibri"/>
              <a:sym typeface="Calibri"/>
            </a:endParaRPr>
          </a:p>
        </p:txBody>
      </p:sp>
      <p:sp>
        <p:nvSpPr>
          <p:cNvPr id="145" name="Google Shape;145;p7"/>
          <p:cNvSpPr/>
          <p:nvPr/>
        </p:nvSpPr>
        <p:spPr>
          <a:xfrm>
            <a:off x="4660553" y="3959200"/>
            <a:ext cx="3987329" cy="453628"/>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US" sz="1100" b="0" i="0" u="none" strike="noStrike" cap="none">
                <a:solidFill>
                  <a:srgbClr val="000000"/>
                </a:solidFill>
                <a:latin typeface="Arial"/>
                <a:ea typeface="Arial"/>
                <a:cs typeface="Arial"/>
                <a:sym typeface="Arial"/>
              </a:rPr>
              <a:t>To evaluate the proposed framework using suitable document datasets and evaluation criteria for document understanding, explanation quality, evidence grounding, and traceability</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p:nvPr/>
        </p:nvSpPr>
        <p:spPr>
          <a:xfrm>
            <a:off x="496119" y="415454"/>
            <a:ext cx="8151763" cy="35778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2250"/>
              <a:buFont typeface="Petrona"/>
              <a:buNone/>
            </a:pPr>
            <a:r>
              <a:rPr lang="en-US" sz="2250" b="1" i="0" u="none" strike="noStrike" cap="none">
                <a:solidFill>
                  <a:srgbClr val="F95F88"/>
                </a:solidFill>
                <a:latin typeface="Petrona"/>
                <a:ea typeface="Petrona"/>
                <a:cs typeface="Petrona"/>
                <a:sym typeface="Petrona"/>
              </a:rPr>
              <a:t>Project Plan</a:t>
            </a:r>
            <a:endParaRPr sz="2250" b="0" i="0" u="none" strike="noStrike" cap="none">
              <a:solidFill>
                <a:schemeClr val="dk1"/>
              </a:solidFill>
              <a:latin typeface="Calibri"/>
              <a:ea typeface="Calibri"/>
              <a:cs typeface="Calibri"/>
              <a:sym typeface="Calibri"/>
            </a:endParaRPr>
          </a:p>
        </p:txBody>
      </p:sp>
      <p:pic>
        <p:nvPicPr>
          <p:cNvPr id="152" name="Google Shape;152;p8"/>
          <p:cNvPicPr preferRelativeResize="0"/>
          <p:nvPr/>
        </p:nvPicPr>
        <p:blipFill rotWithShape="1">
          <a:blip r:embed="rId3">
            <a:alphaModFix/>
          </a:blip>
          <a:srcRect/>
          <a:stretch/>
        </p:blipFill>
        <p:spPr>
          <a:xfrm>
            <a:off x="1379220" y="899517"/>
            <a:ext cx="6630829" cy="3886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14"/>
          <p:cNvPicPr preferRelativeResize="0"/>
          <p:nvPr/>
        </p:nvPicPr>
        <p:blipFill rotWithShape="1">
          <a:blip r:embed="rId3">
            <a:alphaModFix/>
          </a:blip>
          <a:srcRect/>
          <a:stretch/>
        </p:blipFill>
        <p:spPr>
          <a:xfrm>
            <a:off x="714375" y="0"/>
            <a:ext cx="771525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164" name="Google Shape;164;p9"/>
          <p:cNvSpPr/>
          <p:nvPr/>
        </p:nvSpPr>
        <p:spPr>
          <a:xfrm>
            <a:off x="3925119" y="412849"/>
            <a:ext cx="4722763" cy="43398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95F88"/>
              </a:buClr>
              <a:buSzPts val="2700"/>
              <a:buFont typeface="Petrona"/>
              <a:buNone/>
            </a:pPr>
            <a:r>
              <a:rPr lang="en-US" sz="2700" b="1" i="0" u="none" strike="noStrike" cap="none">
                <a:solidFill>
                  <a:srgbClr val="F95F88"/>
                </a:solidFill>
                <a:latin typeface="Petrona"/>
                <a:ea typeface="Petrona"/>
                <a:cs typeface="Petrona"/>
                <a:sym typeface="Petrona"/>
              </a:rPr>
              <a:t>Expected Outcomes</a:t>
            </a:r>
            <a:endParaRPr sz="2700" b="0" i="0" u="none" strike="noStrike" cap="none">
              <a:solidFill>
                <a:schemeClr val="dk1"/>
              </a:solidFill>
              <a:latin typeface="Calibri"/>
              <a:ea typeface="Calibri"/>
              <a:cs typeface="Calibri"/>
              <a:sym typeface="Calibri"/>
            </a:endParaRPr>
          </a:p>
        </p:txBody>
      </p:sp>
      <p:sp>
        <p:nvSpPr>
          <p:cNvPr id="165" name="Google Shape;165;p9"/>
          <p:cNvSpPr/>
          <p:nvPr/>
        </p:nvSpPr>
        <p:spPr>
          <a:xfrm>
            <a:off x="3925119" y="1015454"/>
            <a:ext cx="2305124" cy="1992288"/>
          </a:xfrm>
          <a:prstGeom prst="roundRect">
            <a:avLst>
              <a:gd name="adj" fmla="val 2662"/>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6" name="Google Shape;166;p9"/>
          <p:cNvSpPr/>
          <p:nvPr/>
        </p:nvSpPr>
        <p:spPr>
          <a:xfrm>
            <a:off x="4056087" y="1146423"/>
            <a:ext cx="378768" cy="378768"/>
          </a:xfrm>
          <a:prstGeom prst="ellipse">
            <a:avLst/>
          </a:prstGeom>
          <a:solidFill>
            <a:srgbClr val="6237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7" name="Google Shape;167;p9" descr="preencoded.png"/>
          <p:cNvSpPr/>
          <p:nvPr/>
        </p:nvSpPr>
        <p:spPr>
          <a:xfrm>
            <a:off x="4160267" y="1250528"/>
            <a:ext cx="170408" cy="17040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a:off x="4056087" y="1637630"/>
            <a:ext cx="2043187" cy="21699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350"/>
              <a:buFont typeface="Petrona"/>
              <a:buNone/>
            </a:pPr>
            <a:r>
              <a:rPr lang="en-US" sz="1350" b="1" i="0" u="none" strike="noStrike" cap="none">
                <a:solidFill>
                  <a:srgbClr val="272525"/>
                </a:solidFill>
                <a:latin typeface="Petrona"/>
                <a:ea typeface="Petrona"/>
                <a:cs typeface="Petrona"/>
                <a:sym typeface="Petrona"/>
              </a:rPr>
              <a:t>Anticipated Results</a:t>
            </a:r>
            <a:endParaRPr sz="1350" b="0" i="0" u="none" strike="noStrike" cap="none">
              <a:solidFill>
                <a:schemeClr val="dk1"/>
              </a:solidFill>
              <a:latin typeface="Calibri"/>
              <a:ea typeface="Calibri"/>
              <a:cs typeface="Calibri"/>
              <a:sym typeface="Calibri"/>
            </a:endParaRPr>
          </a:p>
        </p:txBody>
      </p:sp>
      <p:sp>
        <p:nvSpPr>
          <p:cNvPr id="169" name="Google Shape;169;p9"/>
          <p:cNvSpPr/>
          <p:nvPr/>
        </p:nvSpPr>
        <p:spPr>
          <a:xfrm>
            <a:off x="4056087" y="1922041"/>
            <a:ext cx="2043187" cy="954732"/>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None/>
            </a:pPr>
            <a:r>
              <a:rPr lang="en-US" sz="750" b="0" i="0" u="none" strike="noStrike" cap="none">
                <a:solidFill>
                  <a:srgbClr val="000000"/>
                </a:solidFill>
                <a:latin typeface="Arial"/>
                <a:ea typeface="Arial"/>
                <a:cs typeface="Arial"/>
                <a:sym typeface="Arial"/>
              </a:rPr>
              <a:t>Accurate extraction of text along with bounding-box/spatial information from medical and legal documents.</a:t>
            </a:r>
            <a:br>
              <a:rPr lang="en-US" sz="750" b="0" i="0" u="none" strike="noStrike" cap="none">
                <a:solidFill>
                  <a:srgbClr val="000000"/>
                </a:solidFill>
                <a:latin typeface="Arial"/>
                <a:ea typeface="Arial"/>
                <a:cs typeface="Arial"/>
                <a:sym typeface="Arial"/>
              </a:rPr>
            </a:br>
            <a:r>
              <a:rPr lang="en-US" sz="750" b="0" i="0" u="none" strike="noStrike" cap="none">
                <a:solidFill>
                  <a:srgbClr val="000000"/>
                </a:solidFill>
                <a:latin typeface="Arial"/>
                <a:ea typeface="Arial"/>
                <a:cs typeface="Arial"/>
                <a:sym typeface="Arial"/>
              </a:rPr>
              <a:t>A functional and experimentally validated prototype capable of producing </a:t>
            </a:r>
            <a:r>
              <a:rPr lang="en-US" sz="750" b="1" i="0" u="none" strike="noStrike" cap="none">
                <a:solidFill>
                  <a:srgbClr val="000000"/>
                </a:solidFill>
                <a:latin typeface="Arial"/>
                <a:ea typeface="Arial"/>
                <a:cs typeface="Arial"/>
                <a:sym typeface="Arial"/>
              </a:rPr>
              <a:t>document predictions together with visually grounded explanations</a:t>
            </a:r>
            <a:r>
              <a:rPr lang="en-US" sz="750" b="0" i="0" u="none" strike="noStrike" cap="none">
                <a:solidFill>
                  <a:srgbClr val="000000"/>
                </a:solidFill>
                <a:latin typeface="Arial"/>
                <a:ea typeface="Arial"/>
                <a:cs typeface="Arial"/>
                <a:sym typeface="Arial"/>
              </a:rPr>
              <a:t>, rather than predictions alone.</a:t>
            </a:r>
            <a:endParaRPr sz="750" b="0" i="0" u="none" strike="noStrike" cap="none">
              <a:solidFill>
                <a:schemeClr val="dk1"/>
              </a:solidFill>
              <a:latin typeface="Calibri"/>
              <a:ea typeface="Calibri"/>
              <a:cs typeface="Calibri"/>
              <a:sym typeface="Calibri"/>
            </a:endParaRPr>
          </a:p>
        </p:txBody>
      </p:sp>
      <p:sp>
        <p:nvSpPr>
          <p:cNvPr id="170" name="Google Shape;170;p9"/>
          <p:cNvSpPr/>
          <p:nvPr/>
        </p:nvSpPr>
        <p:spPr>
          <a:xfrm>
            <a:off x="6342683" y="1015454"/>
            <a:ext cx="2305199" cy="1992288"/>
          </a:xfrm>
          <a:prstGeom prst="roundRect">
            <a:avLst>
              <a:gd name="adj" fmla="val 2662"/>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1" name="Google Shape;171;p9"/>
          <p:cNvSpPr/>
          <p:nvPr/>
        </p:nvSpPr>
        <p:spPr>
          <a:xfrm>
            <a:off x="6473651" y="1146423"/>
            <a:ext cx="378768" cy="378768"/>
          </a:xfrm>
          <a:prstGeom prst="ellipse">
            <a:avLst/>
          </a:prstGeom>
          <a:solidFill>
            <a:srgbClr val="6237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2" name="Google Shape;172;p9" descr="preencoded.png"/>
          <p:cNvSpPr/>
          <p:nvPr/>
        </p:nvSpPr>
        <p:spPr>
          <a:xfrm>
            <a:off x="6577831" y="1250528"/>
            <a:ext cx="170408" cy="17040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6473651" y="1637630"/>
            <a:ext cx="2043261" cy="21699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350"/>
              <a:buFont typeface="Petrona"/>
              <a:buNone/>
            </a:pPr>
            <a:r>
              <a:rPr lang="en-US" sz="1350" b="1" i="0" u="none" strike="noStrike" cap="none">
                <a:solidFill>
                  <a:srgbClr val="272525"/>
                </a:solidFill>
                <a:latin typeface="Petrona"/>
                <a:ea typeface="Petrona"/>
                <a:cs typeface="Petrona"/>
                <a:sym typeface="Petrona"/>
              </a:rPr>
              <a:t>Applications</a:t>
            </a:r>
            <a:endParaRPr sz="1350" b="0" i="0" u="none" strike="noStrike" cap="none">
              <a:solidFill>
                <a:schemeClr val="dk1"/>
              </a:solidFill>
              <a:latin typeface="Calibri"/>
              <a:ea typeface="Calibri"/>
              <a:cs typeface="Calibri"/>
              <a:sym typeface="Calibri"/>
            </a:endParaRPr>
          </a:p>
        </p:txBody>
      </p:sp>
      <p:sp>
        <p:nvSpPr>
          <p:cNvPr id="174" name="Google Shape;174;p9"/>
          <p:cNvSpPr/>
          <p:nvPr/>
        </p:nvSpPr>
        <p:spPr>
          <a:xfrm>
            <a:off x="6473651" y="1922041"/>
            <a:ext cx="2043261" cy="954732"/>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None/>
            </a:pPr>
            <a:r>
              <a:rPr lang="en-US" sz="925" b="0" i="0" u="none" strike="noStrike" cap="none">
                <a:solidFill>
                  <a:srgbClr val="000000"/>
                </a:solidFill>
                <a:latin typeface="Arial"/>
                <a:ea typeface="Arial"/>
                <a:cs typeface="Arial"/>
                <a:sym typeface="Arial"/>
              </a:rPr>
              <a:t>Hospitals and healthcare organizations </a:t>
            </a:r>
            <a:endParaRPr/>
          </a:p>
          <a:p>
            <a:pPr marL="0" marR="0" lvl="0" indent="0" algn="l" rtl="0">
              <a:lnSpc>
                <a:spcPct val="100000"/>
              </a:lnSpc>
              <a:spcBef>
                <a:spcPts val="0"/>
              </a:spcBef>
              <a:spcAft>
                <a:spcPts val="0"/>
              </a:spcAft>
              <a:buNone/>
            </a:pPr>
            <a:r>
              <a:rPr lang="en-US" sz="925" b="0" i="0" u="none" strike="noStrike" cap="none">
                <a:solidFill>
                  <a:srgbClr val="000000"/>
                </a:solidFill>
                <a:latin typeface="Arial"/>
                <a:ea typeface="Arial"/>
                <a:cs typeface="Arial"/>
                <a:sym typeface="Arial"/>
              </a:rPr>
              <a:t>Medical researchers and clinical data analysts</a:t>
            </a:r>
            <a:br>
              <a:rPr lang="en-US" sz="925" b="0" i="0" u="none" strike="noStrike" cap="none">
                <a:solidFill>
                  <a:srgbClr val="000000"/>
                </a:solidFill>
                <a:latin typeface="Arial"/>
                <a:ea typeface="Arial"/>
                <a:cs typeface="Arial"/>
                <a:sym typeface="Arial"/>
              </a:rPr>
            </a:br>
            <a:r>
              <a:rPr lang="en-US" sz="925" b="0" i="0" u="none" strike="noStrike" cap="none">
                <a:solidFill>
                  <a:srgbClr val="000000"/>
                </a:solidFill>
                <a:latin typeface="Arial"/>
                <a:ea typeface="Arial"/>
                <a:cs typeface="Arial"/>
                <a:sym typeface="Arial"/>
              </a:rPr>
              <a:t>Law firms and legal departments </a:t>
            </a:r>
            <a:endParaRPr/>
          </a:p>
          <a:p>
            <a:pPr marL="0" marR="0" lvl="0" indent="0" algn="l" rtl="0">
              <a:lnSpc>
                <a:spcPct val="100000"/>
              </a:lnSpc>
              <a:spcBef>
                <a:spcPts val="0"/>
              </a:spcBef>
              <a:spcAft>
                <a:spcPts val="0"/>
              </a:spcAft>
              <a:buNone/>
            </a:pPr>
            <a:r>
              <a:rPr lang="en-US" sz="925" b="0" i="0" u="none" strike="noStrike" cap="none">
                <a:solidFill>
                  <a:srgbClr val="000000"/>
                </a:solidFill>
                <a:latin typeface="Arial"/>
                <a:ea typeface="Arial"/>
                <a:cs typeface="Arial"/>
                <a:sym typeface="Arial"/>
              </a:rPr>
              <a:t>Legal document management systems</a:t>
            </a:r>
            <a:endParaRPr/>
          </a:p>
          <a:p>
            <a:pPr marL="0" marR="0" lvl="0" indent="0" algn="l" rtl="0">
              <a:lnSpc>
                <a:spcPct val="100000"/>
              </a:lnSpc>
              <a:spcBef>
                <a:spcPts val="0"/>
              </a:spcBef>
              <a:spcAft>
                <a:spcPts val="0"/>
              </a:spcAft>
              <a:buNone/>
            </a:pPr>
            <a:r>
              <a:rPr lang="en-US" sz="925" b="0" i="0" u="none" strike="noStrike" cap="none">
                <a:solidFill>
                  <a:srgbClr val="000000"/>
                </a:solidFill>
                <a:latin typeface="Arial"/>
                <a:ea typeface="Arial"/>
                <a:cs typeface="Arial"/>
                <a:sym typeface="Arial"/>
              </a:rPr>
              <a:t>Enterprise AI systems</a:t>
            </a:r>
            <a:endParaRPr/>
          </a:p>
        </p:txBody>
      </p:sp>
      <p:sp>
        <p:nvSpPr>
          <p:cNvPr id="175" name="Google Shape;175;p9"/>
          <p:cNvSpPr/>
          <p:nvPr/>
        </p:nvSpPr>
        <p:spPr>
          <a:xfrm>
            <a:off x="3925119" y="3120182"/>
            <a:ext cx="4722763" cy="1610395"/>
          </a:xfrm>
          <a:prstGeom prst="roundRect">
            <a:avLst>
              <a:gd name="adj" fmla="val 3293"/>
            </a:avLst>
          </a:prstGeom>
          <a:solidFill>
            <a:srgbClr val="E0D7F4"/>
          </a:solidFill>
          <a:ln w="9525" cap="flat" cmpd="sng">
            <a:solidFill>
              <a:srgbClr val="C6B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6" name="Google Shape;176;p9"/>
          <p:cNvSpPr/>
          <p:nvPr/>
        </p:nvSpPr>
        <p:spPr>
          <a:xfrm>
            <a:off x="4056087" y="3251150"/>
            <a:ext cx="378768" cy="378768"/>
          </a:xfrm>
          <a:prstGeom prst="ellipse">
            <a:avLst/>
          </a:prstGeom>
          <a:solidFill>
            <a:srgbClr val="6237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7" name="Google Shape;177;p9" descr="preencoded.png"/>
          <p:cNvSpPr/>
          <p:nvPr/>
        </p:nvSpPr>
        <p:spPr>
          <a:xfrm>
            <a:off x="4160267" y="3355256"/>
            <a:ext cx="170408" cy="17040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4056087" y="3742358"/>
            <a:ext cx="4460825" cy="21699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350"/>
              <a:buFont typeface="Petrona"/>
              <a:buNone/>
            </a:pPr>
            <a:r>
              <a:rPr lang="en-US" sz="1350" b="1" i="0" u="none" strike="noStrike" cap="none">
                <a:solidFill>
                  <a:srgbClr val="272525"/>
                </a:solidFill>
                <a:latin typeface="Petrona"/>
                <a:ea typeface="Petrona"/>
                <a:cs typeface="Petrona"/>
                <a:sym typeface="Petrona"/>
              </a:rPr>
              <a:t>Future Scope</a:t>
            </a:r>
            <a:endParaRPr sz="1350" b="0" i="0" u="none" strike="noStrike" cap="none">
              <a:solidFill>
                <a:schemeClr val="dk1"/>
              </a:solidFill>
              <a:latin typeface="Calibri"/>
              <a:ea typeface="Calibri"/>
              <a:cs typeface="Calibri"/>
              <a:sym typeface="Calibri"/>
            </a:endParaRPr>
          </a:p>
        </p:txBody>
      </p:sp>
      <p:sp>
        <p:nvSpPr>
          <p:cNvPr id="179" name="Google Shape;179;p9"/>
          <p:cNvSpPr/>
          <p:nvPr/>
        </p:nvSpPr>
        <p:spPr>
          <a:xfrm>
            <a:off x="4056087" y="4026768"/>
            <a:ext cx="4460825" cy="572839"/>
          </a:xfrm>
          <a:prstGeom prst="rect">
            <a:avLst/>
          </a:prstGeom>
          <a:noFill/>
          <a:ln>
            <a:noFill/>
          </a:ln>
        </p:spPr>
        <p:txBody>
          <a:bodyPr spcFirstLastPara="1" wrap="square" lIns="0" tIns="0" rIns="0" bIns="0" anchor="t" anchorCtr="0">
            <a:normAutofit/>
          </a:bodyPr>
          <a:lstStyle/>
          <a:p>
            <a:pPr marL="0" marR="0" lvl="0" indent="0" algn="l" rtl="0">
              <a:lnSpc>
                <a:spcPct val="116000"/>
              </a:lnSpc>
              <a:spcBef>
                <a:spcPts val="0"/>
              </a:spcBef>
              <a:spcAft>
                <a:spcPts val="0"/>
              </a:spcAft>
              <a:buNone/>
            </a:pPr>
            <a:r>
              <a:rPr lang="en-US" sz="1000" b="0" i="0" u="none" strike="noStrike" cap="none">
                <a:solidFill>
                  <a:srgbClr val="000000"/>
                </a:solidFill>
                <a:latin typeface="Arial"/>
                <a:ea typeface="Arial"/>
                <a:cs typeface="Arial"/>
                <a:sym typeface="Arial"/>
              </a:rPr>
              <a:t>More domains/datasets, additional XAI methods, multimodal documents, more document understanding tasks, human evaluation, and integration with enterprise systems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0"/>
          <p:cNvSpPr/>
          <p:nvPr/>
        </p:nvSpPr>
        <p:spPr>
          <a:xfrm>
            <a:off x="1983778" y="1052775"/>
            <a:ext cx="4722763" cy="46441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F95F88"/>
              </a:buClr>
              <a:buSzPts val="2900"/>
              <a:buFont typeface="Petrona"/>
              <a:buNone/>
            </a:pPr>
            <a:r>
              <a:rPr lang="en-US" sz="2900" b="1" i="0" u="none" strike="noStrike" cap="none">
                <a:solidFill>
                  <a:srgbClr val="F95F88"/>
                </a:solidFill>
                <a:latin typeface="Petrona"/>
                <a:ea typeface="Petrona"/>
                <a:cs typeface="Petrona"/>
                <a:sym typeface="Petrona"/>
              </a:rPr>
              <a:t>Thank You</a:t>
            </a:r>
            <a:endParaRPr sz="2900" b="0" i="0" u="none" strike="noStrike" cap="none">
              <a:solidFill>
                <a:schemeClr val="dk1"/>
              </a:solidFill>
              <a:latin typeface="Calibri"/>
              <a:ea typeface="Calibri"/>
              <a:cs typeface="Calibri"/>
              <a:sym typeface="Calibri"/>
            </a:endParaRPr>
          </a:p>
        </p:txBody>
      </p:sp>
      <p:sp>
        <p:nvSpPr>
          <p:cNvPr id="186" name="Google Shape;186;p10"/>
          <p:cNvSpPr/>
          <p:nvPr/>
        </p:nvSpPr>
        <p:spPr>
          <a:xfrm>
            <a:off x="1864203" y="1517193"/>
            <a:ext cx="4722763" cy="1281857"/>
          </a:xfrm>
          <a:prstGeom prst="rect">
            <a:avLst/>
          </a:prstGeom>
          <a:noFill/>
          <a:ln>
            <a:noFill/>
          </a:ln>
        </p:spPr>
        <p:txBody>
          <a:bodyPr spcFirstLastPara="1" wrap="square" lIns="0" tIns="0" rIns="0" bIns="0" anchor="t" anchorCtr="0">
            <a:normAutofit/>
          </a:bodyPr>
          <a:lstStyle/>
          <a:p>
            <a:pPr marL="0" marR="0" lvl="0" indent="0" algn="ctr" rtl="0">
              <a:lnSpc>
                <a:spcPct val="104000"/>
              </a:lnSpc>
              <a:spcBef>
                <a:spcPts val="0"/>
              </a:spcBef>
              <a:spcAft>
                <a:spcPts val="0"/>
              </a:spcAft>
              <a:buClr>
                <a:srgbClr val="F95F88"/>
              </a:buClr>
              <a:buSzPts val="4000"/>
              <a:buFont typeface="Petrona"/>
              <a:buNone/>
            </a:pPr>
            <a:r>
              <a:rPr lang="en-US" sz="4000" b="1" i="0" u="none" strike="noStrike" cap="none">
                <a:solidFill>
                  <a:srgbClr val="F95F88"/>
                </a:solidFill>
                <a:latin typeface="Petrona"/>
                <a:ea typeface="Petrona"/>
                <a:cs typeface="Petrona"/>
                <a:sym typeface="Petrona"/>
              </a:rPr>
              <a:t>Questions &amp; Discussion</a:t>
            </a:r>
            <a:endParaRPr sz="4000" b="0" i="0" u="none" strike="noStrike" cap="none">
              <a:solidFill>
                <a:schemeClr val="dk1"/>
              </a:solidFill>
              <a:latin typeface="Calibri"/>
              <a:ea typeface="Calibri"/>
              <a:cs typeface="Calibri"/>
              <a:sym typeface="Calibri"/>
            </a:endParaRPr>
          </a:p>
        </p:txBody>
      </p:sp>
      <p:sp>
        <p:nvSpPr>
          <p:cNvPr id="187" name="Google Shape;187;p10"/>
          <p:cNvSpPr/>
          <p:nvPr/>
        </p:nvSpPr>
        <p:spPr>
          <a:xfrm>
            <a:off x="1983778" y="2994023"/>
            <a:ext cx="4722763" cy="422225"/>
          </a:xfrm>
          <a:prstGeom prst="rect">
            <a:avLst/>
          </a:prstGeom>
          <a:noFill/>
          <a:ln>
            <a:noFill/>
          </a:ln>
        </p:spPr>
        <p:txBody>
          <a:bodyPr spcFirstLastPara="1" wrap="square" lIns="0" tIns="0" rIns="0" bIns="0" anchor="t" anchorCtr="0">
            <a:normAutofit/>
          </a:bodyPr>
          <a:lstStyle/>
          <a:p>
            <a:pPr marL="0" marR="0" lvl="0" indent="0" algn="ctr" rtl="0">
              <a:lnSpc>
                <a:spcPct val="130000"/>
              </a:lnSpc>
              <a:spcBef>
                <a:spcPts val="0"/>
              </a:spcBef>
              <a:spcAft>
                <a:spcPts val="0"/>
              </a:spcAft>
              <a:buClr>
                <a:srgbClr val="272525"/>
              </a:buClr>
              <a:buSzPts val="1050"/>
              <a:buFont typeface="Inter"/>
              <a:buNone/>
            </a:pPr>
            <a:r>
              <a:rPr lang="en-US" sz="1050" b="0" i="0" u="none" strike="noStrike" cap="none">
                <a:solidFill>
                  <a:srgbClr val="272525"/>
                </a:solidFill>
                <a:latin typeface="Inter"/>
                <a:ea typeface="Inter"/>
                <a:cs typeface="Inter"/>
                <a:sym typeface="Inter"/>
              </a:rPr>
              <a:t>We welcome your feedback, suggestions, and questions. This project is a work in progress and your insights will help us refine our approach.</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1953</Words>
  <Application>Microsoft Office PowerPoint</Application>
  <PresentationFormat>On-screen Show (16:9)</PresentationFormat>
  <Paragraphs>246</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Inter</vt:lpstr>
      <vt:lpstr>Courier New</vt:lpstr>
      <vt:lpstr>Calibri</vt:lpstr>
      <vt:lpstr>Arial</vt:lpstr>
      <vt:lpstr>Petrona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drdoaimscs2</dc:creator>
  <cp:lastModifiedBy>Harini Chopperla</cp:lastModifiedBy>
  <cp:revision>1</cp:revision>
  <dcterms:created xsi:type="dcterms:W3CDTF">2026-07-29T04:43:08Z</dcterms:created>
  <dcterms:modified xsi:type="dcterms:W3CDTF">2026-08-12T07:56:47Z</dcterms:modified>
</cp:coreProperties>
</file>