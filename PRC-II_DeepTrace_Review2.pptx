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title as Review 1. Say that Review 2 takes the same pipeline and makes each block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what changed since Review 1: the blocks are the same. We can now say what Baidu OCR returns, how layout is grouped, and how Integrated Gradients is drawn on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say we replaced Baidu OCR. It is the OCR block from the Review 1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One-minute version: we extract a value from a medical or legal document and highlight the OCR region that supported it. Baidu OCR gives us the region. Integrated Gradients decides which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objective is one block of the Review 1 diagram: data, Baidu OCR plus layout, Integrated Gradients,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with the Review 1 papers. If asked what is new: the link from Integrated Gradients back onto the Baidu OCR box. We are not proposing a new OCR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top to bottom. Baidu OCR is step 2, same as the Review 1 diagram. Integrated Gradients is applied to the OCR words, then drawn on the boxes Baidu 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Baidu OCR in the chain. Then say the highlight uses the boxes from that step. Medical and legal share this chain; only the fields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Baidu OCR is the only OCR tool. If asked why these documents: they are the two domains on the Review 1 workflow diagram. Labeling is still to be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uses the same Baidu OCR and the same model. The only addition in DeepTrace is the Integrated Gradients highlight. Say clearly that we have no accuracy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completed rows are the specification work after Review 1. Be direct about the yet-to-start rows. Implementation is in progress means the build has not produced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timeline is a plan. The first thing we owe after this review is labeled pages and a Baidu OCR check on those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Review 1 sources. Unlimited OCR is the long-reading paper. Baidu OCR is the tool in our workflow. Integrated Gradients is the explanation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one of us should be able to say these five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7C3D"/>
                </a:solidFill>
                <a:latin typeface="Calibri"/>
              </a:rPr>
              <a:t>C. R. RAO AIMSCS   ·   IN COLLABORATION WITH JNTUH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DEE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DEE8"/>
                </a:solidFill>
                <a:latin typeface="Calibri"/>
              </a:rPr>
              <a:t>IV B.Tech I Semester     ·     Major Project Stage–I     ·     Review–II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920240" cy="41148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9728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DeepTrace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7EEF2"/>
                </a:solidFill>
                <a:latin typeface="Calibri"/>
              </a:rPr>
              <a:t>Orchestrating Long-Context OCR and Causal Explainability
for Document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A67C3D"/>
                </a:solidFill>
                <a:latin typeface="Calibri"/>
              </a:rPr>
              <a:t>Same project as Review 1. This review specifies how we will build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7452360" cy="2240280"/>
          </a:xfrm>
          <a:prstGeom prst="roundRect">
            <a:avLst>
              <a:gd name="adj" fmla="val 8000"/>
            </a:avLst>
          </a:prstGeom>
          <a:solidFill>
            <a:srgbClr val="14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50208"/>
            <a:ext cx="27432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7C3D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97680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Sibani Tiwari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9028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D2DE"/>
                </a:solidFill>
                <a:latin typeface="Calibri"/>
              </a:rPr>
              <a:t>23XV1M6758   ·   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4297680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Harini Chopperla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459028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D2DE"/>
                </a:solidFill>
                <a:latin typeface="Calibri"/>
              </a:rPr>
              <a:t>23XV1M6752   ·   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074920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Saika Brinda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67527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D2DE"/>
                </a:solidFill>
                <a:latin typeface="Calibri"/>
              </a:rPr>
              <a:t>23XV1M6730   ·   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5074920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Zoya Fatima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5367527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D2DE"/>
                </a:solidFill>
                <a:latin typeface="Calibri"/>
              </a:rPr>
              <a:t>23XV1M0534   ·   CSE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8404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005072"/>
            <a:ext cx="3200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7C3D"/>
                </a:solidFill>
                <a:latin typeface="Calibri"/>
              </a:rPr>
              <a:t>SUPERVISOR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38912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Dr. Ramesh Babu
Pittala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349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5EEF2"/>
                </a:solidFill>
                <a:latin typeface="Calibri"/>
              </a:rPr>
              <a:t>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same DeepTrace pipeline, now ready to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Overview     2  /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3"/>
                </a:solidFill>
                <a:latin typeface="Calibri"/>
              </a:rPr>
              <a:t>DeepTrace reads a medical or legal document and shows which words on the page led to the answer. Review 1 named the parts. Review 2 says how each part will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1168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2788920" cy="51206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084831"/>
            <a:ext cx="25603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   Baidu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97480"/>
            <a:ext cx="250545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Reads each page and returns the text, the bounding box, and the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201168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2011680"/>
            <a:ext cx="2788920" cy="512064"/>
          </a:xfrm>
          <a:prstGeom prst="rect">
            <a:avLst/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084831"/>
            <a:ext cx="25603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   Layout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97480"/>
            <a:ext cx="250545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Groups those boxes into headers, paragraphs, tables, and sections.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1168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2011680"/>
            <a:ext cx="2788920" cy="51206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084831"/>
            <a:ext cx="25603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   Understanding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697480"/>
            <a:ext cx="250545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Uses the text and the boxes to extract the field, such as a lab value or a clause.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27889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2011680"/>
            <a:ext cx="2788920" cy="512064"/>
          </a:xfrm>
          <a:prstGeom prst="rect">
            <a:avLst/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2084831"/>
            <a:ext cx="25603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   Integrated Gradients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697480"/>
            <a:ext cx="2505456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Scores which OCR words mattered, and we draw that score back on the page.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480060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9377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C3D"/>
                </a:solidFill>
                <a:latin typeface="Calibri"/>
              </a:rPr>
              <a:t>Where it is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852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Medical: lab reports, prescriptions, discharge pages.     Legal: contracts, notices, court orders.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687568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A multi-page file is read page by page with Baidu OCR. Page number is kept, so the document stays one file. This follows the long-document goal from Review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AFTER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we made concrete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After Review 1     3  /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188720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We did not change the project. We filled in the blocks that Review 1 had only named.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664208"/>
          <a:ext cx="1143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943600"/>
              </a:tblGrid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Problem: show the evidence behind a document answer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Same problem, limited to medical and legal pages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OCR shown as Baidu OCR in the workflow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Baidu OCR stays. It supplies text, box, and confidence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Hierarchical layout parsing was a name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Boxes are grouped into header, paragraph, table, and section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Integrated Gradients was the explanation idea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Scores are computed on OCR words and drawn on their boxes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05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Medical and legal documents were examples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These two domains are the dataset we will label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6621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No baseline and no way to judge the highlight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Baseline is the same model without the evidence map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REFINED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the document to the highlighted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Problem     4  /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109728" cy="1170432"/>
          </a:xfrm>
          <a:prstGeom prst="rect">
            <a:avLst/>
          </a:prstGeom>
          <a:solidFill>
            <a:srgbClr val="0F6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16736"/>
            <a:ext cx="10881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1   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00784"/>
            <a:ext cx="108813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A model can return the answer: a lab value, a party name, or a clause.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48716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487168"/>
            <a:ext cx="109728" cy="1170432"/>
          </a:xfrm>
          <a:prstGeom prst="rect">
            <a:avLst/>
          </a:prstGeom>
          <a:solidFill>
            <a:srgbClr val="0F6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96896"/>
            <a:ext cx="10881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2  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80944"/>
            <a:ext cx="108813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The user still cannot see which words on the source page produced that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76732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767328"/>
            <a:ext cx="109728" cy="1170432"/>
          </a:xfrm>
          <a:prstGeom prst="rect">
            <a:avLst/>
          </a:prstGeom>
          <a:solidFill>
            <a:srgbClr val="0F6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77056"/>
            <a:ext cx="10881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3   Why current tools fall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61104"/>
            <a:ext cx="108813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Long-context models read more text. Explainability papers score features. Neither one draws the evidence on the medical or legal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047488"/>
            <a:ext cx="11430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5047488"/>
            <a:ext cx="109728" cy="1170432"/>
          </a:xfrm>
          <a:prstGeom prst="rect">
            <a:avLst/>
          </a:prstGeom>
          <a:solidFill>
            <a:srgbClr val="1B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57216"/>
            <a:ext cx="10881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4   What DeepTrace will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41264"/>
            <a:ext cx="108813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Baidu OCR finds the words and boxes. Layout parsing groups them. Integrated Gradients marks the words that drove the answer, on the original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Four objectives, taken from the Review 1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Objectives     5  /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25880"/>
            <a:ext cx="1143000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25880"/>
            <a:ext cx="109728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325880"/>
            <a:ext cx="109728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53895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819656"/>
            <a:ext cx="9875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Collect medical and legal page samples, and label the field plus the region that supports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560320"/>
            <a:ext cx="1143000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560320"/>
            <a:ext cx="1097280" cy="1115568"/>
          </a:xfrm>
          <a:prstGeom prst="rect">
            <a:avLst/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560320"/>
            <a:ext cx="109728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688336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Read the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054096"/>
            <a:ext cx="9875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Run Baidu OCR and group the boxes into headers, paragraphs, tables, and sections.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794760"/>
            <a:ext cx="1143000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794760"/>
            <a:ext cx="109728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794760"/>
            <a:ext cx="109728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22776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Explain the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88536"/>
            <a:ext cx="9875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Extract the field, then apply Integrated Gradients and place the scores on the OCR boxes.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029200"/>
            <a:ext cx="1143000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029200"/>
            <a:ext cx="1097280" cy="1115568"/>
          </a:xfrm>
          <a:prstGeom prst="rect">
            <a:avLst/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029200"/>
            <a:ext cx="109728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157216"/>
            <a:ext cx="98755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Judge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522976"/>
            <a:ext cx="9875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Compare this evidence map with a baseline that returns the answer and no highlight.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LITERATURE AND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papers from Review 1, and what they still leave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Literature     6  /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70432"/>
          <a:ext cx="1150315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114800"/>
                <a:gridCol w="4005072"/>
              </a:tblGrid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Work from Review 1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gives DeepTrace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is still open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1C2833"/>
                          </a:solidFill>
                          <a:latin typeface="Calibri"/>
                        </a:rPr>
                        <a:t>Transformer, 2017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Every token can attend to every other token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Full attention is costly on a long document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1C2833"/>
                          </a:solidFill>
                          <a:latin typeface="Calibri"/>
                        </a:rPr>
                        <a:t>Longformer and BigBird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A way to read long text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They do not use the page layout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1C2833"/>
                          </a:solidFill>
                          <a:latin typeface="Calibri"/>
                        </a:rPr>
                        <a:t>Unlimited OCR, Yin et al., 2026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Read a long document image, page after page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It transcribes the page. It does not explain a prediction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1C2833"/>
                          </a:solidFill>
                          <a:latin typeface="Calibri"/>
                        </a:rPr>
                        <a:t>Integrated Gradients, 2017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A score for each input feature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The score is not drawn on the document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63246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 i="0">
                          <a:solidFill>
                            <a:srgbClr val="1C2833"/>
                          </a:solidFill>
                          <a:latin typeface="Calibri"/>
                        </a:rPr>
                        <a:t>Attention is not explanation, 2019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Attention can change while the answer stays the same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0" i="0">
                          <a:solidFill>
                            <a:srgbClr val="1C2833"/>
                          </a:solidFill>
                          <a:latin typeface="Calibri"/>
                        </a:rPr>
                        <a:t>A heatmap of attention can look right and still be wrong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47472" y="5102352"/>
            <a:ext cx="11503152" cy="13258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212080"/>
            <a:ext cx="11064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C3D"/>
                </a:solidFill>
                <a:latin typeface="Calibri"/>
              </a:rPr>
              <a:t>Gap  →  our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559552"/>
            <a:ext cx="11109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Nothing in that list both reads the medical or legal page with OCR boxes and paints an Integrated Gradients score on those boxes. That link is DeepTrace: Baidu OCR, layout grouping, then Integrated Gradients on the original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Each block from the Review 1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Methodology     7  /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70432"/>
          <a:ext cx="1150315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5285232"/>
              </a:tblGrid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How we will do it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Preprocess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Make each page fit for OCR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Split the PDF into pages, deskew, and clean the image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Baidu OCR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Get the words on the page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Baidu OCR returns the text, the box, and the confidence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Layout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Make the boxes meaningful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Group them into header, paragraph, table, and section, in reading order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Understand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Get the field the user asked for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A model reads the OCR text together with the box position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2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Integrated Gradients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See which words mattered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Add up gradients from a blank input to the real OCR input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4458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Show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Let a person check the page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Draw the scores on the boxes and list the top regions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DeepTrace workflow, carried forward from Review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Architecture     8  /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Medical or
legal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6816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Pages,
deskewed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3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Baidu OCR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Text, box,
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8384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Header, table,
paragraph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Field
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9952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14816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IG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6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Score on
each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1783080"/>
            <a:ext cx="21945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0736" y="1280160"/>
            <a:ext cx="1499616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1371600"/>
            <a:ext cx="1389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1901952"/>
            <a:ext cx="138988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7F4F6"/>
                </a:solidFill>
                <a:latin typeface="Calibri"/>
              </a:rPr>
              <a:t>Value +
highlight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017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7C3D"/>
                </a:solidFill>
                <a:latin typeface="Calibri"/>
              </a:rPr>
              <a:t>TWO DOCUMENT TYPES, ONE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" y="3364992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4747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4F63"/>
                </a:solidFill>
                <a:latin typeface="Calibri"/>
              </a:rPr>
              <a:t>Medical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3822191"/>
            <a:ext cx="5303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Lab report, prescription, discharge page.
Example fields: test name, value, unit, date.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364992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4747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4F63"/>
                </a:solidFill>
                <a:latin typeface="Calibri"/>
              </a:rPr>
              <a:t>Legal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822191"/>
            <a:ext cx="5303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Contract, notice, court order.
Example fields: party, date, clause, obligation.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" y="4937760"/>
            <a:ext cx="11494008" cy="14813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04748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C3D"/>
                </a:solidFill>
                <a:latin typeface="Calibri"/>
              </a:rPr>
              <a:t>What the screen shows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5394960"/>
            <a:ext cx="111099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predicted value, the page it came from, and the Baidu OCR boxes with the highest Integrated Gradients score. The user checks the highlight against the original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DATASET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Medical pages, legal pages, and the tools that touch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Data and tools     9  /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170432"/>
            <a:ext cx="5669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170432"/>
            <a:ext cx="5669280" cy="457200"/>
          </a:xfrm>
          <a:prstGeom prst="rect">
            <a:avLst/>
          </a:prstGeom>
          <a:solidFill>
            <a:srgbClr val="0B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25296"/>
            <a:ext cx="5303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55648"/>
            <a:ext cx="53492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Medical samples: lab reports, prescriptions, discharge-style pages.
Legal samples: contracts, notices, court-order pages.
Each labeled page stores the field value and the box that supports it. Pages are split into train, validation, and test. We do not use private patient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70432"/>
            <a:ext cx="5669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70432"/>
            <a:ext cx="566928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25296"/>
            <a:ext cx="53492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 one sample contains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1     Page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2     Baidu OCR text and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0604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3     Layout label (header, paragraph, table, section)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175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4     Field name and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4290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3"/>
                </a:solidFill>
                <a:latin typeface="Calibri"/>
              </a:rPr>
              <a:t>5     Supporting box for that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4224528"/>
            <a:ext cx="28163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370832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Baidu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9377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Text, bounding box, and confidence on each page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224528"/>
            <a:ext cx="28163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4370832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Python + OpenCV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49377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Split pages, deskew, and draw the highlight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224528"/>
            <a:ext cx="28163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4370832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PyTorch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9377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Document model, and the gradients for Integrated Gradients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4224528"/>
            <a:ext cx="28163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4370832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Simple screen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4937760"/>
            <a:ext cx="2560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Show the value beside the highlighted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BASELINE 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we will know the highlight is useful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Evaluation     10  /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88720"/>
          <a:ext cx="1150315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108960"/>
                <a:gridCol w="3273552"/>
              </a:tblGrid>
              <a:tr h="7772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OCR and model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the user sees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we measure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772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Baidu OCR + the same
document model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The field value only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Did the value match the label?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7772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DeepTrace</a:t>
                      </a:r>
                    </a:p>
                  </a:txBody>
                  <a:tcPr marL="70000" marR="70000" marT="50000" marB="50000">
                    <a:solidFill>
                      <a:srgbClr val="E6F3F6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Baidu OCR + the same
document model</a:t>
                      </a:r>
                    </a:p>
                  </a:txBody>
                  <a:tcPr marL="70000" marR="70000" marT="50000" marB="50000">
                    <a:solidFill>
                      <a:srgbClr val="E6F3F6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The value, plus the
highlighted OCR boxes</a:t>
                      </a:r>
                    </a:p>
                  </a:txBody>
                  <a:tcPr marL="70000" marR="70000" marT="50000" marB="50000">
                    <a:solidFill>
                      <a:srgbClr val="E6F3F6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Did the value match, and did
the highlight cover the evidence?</a:t>
                      </a:r>
                    </a:p>
                  </a:txBody>
                  <a:tcPr marL="70000" marR="70000" marT="50000" marB="50000">
                    <a:solidFill>
                      <a:srgbClr val="E6F3F6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47472" y="3749039"/>
            <a:ext cx="3767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85876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4F63"/>
                </a:solidFill>
                <a:latin typeface="Calibri"/>
              </a:rPr>
              <a:t>Field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4279392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Precision, recall, and F1 on the extracted medical or legal field.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3749039"/>
            <a:ext cx="3767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85876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4F63"/>
                </a:solidFill>
                <a:latin typeface="Calibri"/>
              </a:rPr>
              <a:t>Evidence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279392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Does the highlighted Baidu OCR box overlap the labeled supporting region?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749039"/>
            <a:ext cx="3767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85876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4F63"/>
                </a:solidFill>
                <a:latin typeface="Calibri"/>
              </a:rPr>
              <a:t>What success looks 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79392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3"/>
                </a:solidFill>
                <a:latin typeface="Calibri"/>
              </a:rPr>
              <a:t>The value is right, and a person can see the supporting line on the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5596128"/>
            <a:ext cx="11503152" cy="841248"/>
          </a:xfrm>
          <a:prstGeom prst="roundRect">
            <a:avLst>
              <a:gd name="adj" fmla="val 6000"/>
            </a:avLst>
          </a:prstGeom>
          <a:solidFill>
            <a:srgbClr val="F8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42432"/>
            <a:ext cx="11155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5A12"/>
                </a:solidFill>
                <a:latin typeface="Calibri"/>
              </a:rPr>
              <a:t>No accuracy number is shown. The model has not been trained yet. Implementation is in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Done since Review 1, and not done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Status     11  /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80160" y="1170432"/>
          <a:ext cx="9601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926080"/>
              </a:tblGrid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Problem and objectives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1B6B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5F4EC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Literature and research gap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1B6B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5F4EC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Workflow specified, including Baidu OCR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1B6B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5F4EC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Dataset types chosen: medical and legal pages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1B6B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5F4EC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Evaluation plan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1B6B45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5F4EC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Sample collection and labeling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8A5A12"/>
                          </a:solidFill>
                          <a:latin typeface="Calibri"/>
                        </a:rPr>
                        <a:t>Yet to start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8F1E0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Baidu OCR run on our samples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8A5A12"/>
                          </a:solidFill>
                          <a:latin typeface="Calibri"/>
                        </a:rPr>
                        <a:t>Yet to start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8F1E0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Model training and Integrated Gradients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8A5A12"/>
                          </a:solidFill>
                          <a:latin typeface="Calibri"/>
                        </a:rPr>
                        <a:t>Yet to start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8F1E0"/>
                    </a:solidFill>
                  </a:tcPr>
                </a:tc>
              </a:tr>
              <a:tr h="521208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Highlight screen and result table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400" b="1" i="0">
                          <a:solidFill>
                            <a:srgbClr val="8A5A12"/>
                          </a:solidFill>
                          <a:latin typeface="Calibri"/>
                        </a:rPr>
                        <a:t>Yet to start</a:t>
                      </a:r>
                    </a:p>
                  </a:txBody>
                  <a:tcPr marL="70000" marR="70000" marT="50000" marB="50000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8F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PLAN AND 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this review to a working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Plan     12  / 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7472" y="1170432"/>
          <a:ext cx="115031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669280"/>
                <a:gridCol w="3456432"/>
              </a:tblGrid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 will have</a:t>
                      </a:r>
                    </a:p>
                  </a:txBody>
                  <a:tcPr marL="70000" marR="70000" marT="50000" marB="50000">
                    <a:solidFill>
                      <a:srgbClr val="0B1F3A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This review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Freeze the pipeline, data, and metrics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This deck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Collect and label a medical set and a legal set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Pages with fields and boxes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Then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Run Baidu OCR and check the boxes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Text lined up with the page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Then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Train the model and add Integrated Gradients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A value and a highlight</a:t>
                      </a:r>
                    </a:p>
                  </a:txBody>
                  <a:tcPr marL="70000" marR="70000" marT="50000" marB="50000">
                    <a:solidFill>
                      <a:srgbClr val="F7FBFC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1" i="0">
                          <a:solidFill>
                            <a:srgbClr val="1C2833"/>
                          </a:solidFill>
                          <a:latin typeface="Calibri"/>
                        </a:rPr>
                        <a:t>Before submission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Compare with the baseline and write the report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400" b="0" i="0">
                          <a:solidFill>
                            <a:srgbClr val="1C2833"/>
                          </a:solidFill>
                          <a:latin typeface="Calibri"/>
                        </a:rPr>
                        <a:t>F1 and evidence overlap</a:t>
                      </a:r>
                    </a:p>
                  </a:txBody>
                  <a:tcPr marL="70000" marR="70000" marT="50000" marB="50000">
                    <a:solidFill>
                      <a:srgbClr val="FFFFFF"/>
                    </a:solidFill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47472" y="4617720"/>
            <a:ext cx="11503152" cy="17830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73659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7C3D"/>
                </a:solidFill>
                <a:latin typeface="Calibri"/>
              </a:rPr>
              <a:t>Expected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102352"/>
            <a:ext cx="111099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small prototype: upload a medical or legal page, get the field value, and see the Baidu OCR region that Integrated Gradients marked. The same screen is the result we will 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54864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338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7C3D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29184"/>
            <a:ext cx="1133856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Sources carried from Review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20256"/>
            <a:ext cx="7498079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5DEE8"/>
                </a:solidFill>
                <a:latin typeface="Calibri"/>
              </a:rPr>
              <a:t>DeepTrace  ·  Major Project Stage–I  ·  Review–II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620256"/>
            <a:ext cx="41605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7C3D"/>
                </a:solidFill>
                <a:latin typeface="Calibri"/>
              </a:rPr>
              <a:t>References     13  /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1.    Vaswani et al. Attention Is All You Need. NeurIPS, 2017.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93391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1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2.    Beltagy, Peters, and Cohan. Longformer: The Long-Document Transformer. 2020.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06624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06624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3.    Zaheer et al. Big Bird: Transformers for Longer Sequences. NeurIPS, 2020.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9856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4.    Yin et al. Unlimited OCR. 2026. Long-document reading, as studied in Review 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33087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5.    Sundararajan, Taly, and Yan. Axiomatic Attribution for Deep Networks. ICML, 2017. Integrated Gradients.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6.    Jain and Wallace. Attention is not Explanation. NAACL, 2019.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59552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59552"/>
            <a:ext cx="1088136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3"/>
                </a:solidFill>
                <a:latin typeface="Calibri"/>
              </a:rPr>
              <a:t>7.    Baidu OCR. Text detection and recognition with location and confidence, used as the OCR block of DeepTrace.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7EEF2"/>
                </a:solidFill>
                <a:latin typeface="Calibri"/>
              </a:rPr>
              <a:t>Questions on the problem, the pipeline, the data, or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00200"/>
            <a:ext cx="8595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Show which words on a medical or legal page produced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8595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Baidu OCR, then layout grouping, then Integrated Gradients on those boxes.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What is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54680"/>
            <a:ext cx="8595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The scores are drawn on the OCR boxes of the original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31920"/>
            <a:ext cx="8595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Labeled medical pages and legal pages. No private patient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7C3D"/>
                </a:solidFill>
                <a:latin typeface="Calibri"/>
              </a:rPr>
              <a:t>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709160"/>
            <a:ext cx="8595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The pipeline is specified. Training has not started.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D2DE"/>
                </a:solidFill>
                <a:latin typeface="Calibri"/>
              </a:rPr>
              <a:t>DeepTrace     ·     Dr. Ramesh Babu Pittala     ·     Sibani  ·  Harini  ·  Saika  ·  Zoya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DeepTrace — Review II</dc:title>
  <dc:subject>Major Project Stage-I Review-II</dc:subject>
  <dc:creator>Sibani Tiwari, Harini Chopperla, Saika Brinda, Zoya Fatima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